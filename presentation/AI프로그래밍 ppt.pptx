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703" r:id="rId2"/>
    <p:sldMasterId id="2147483715" r:id="rId3"/>
  </p:sldMasterIdLst>
  <p:notesMasterIdLst>
    <p:notesMasterId r:id="rId33"/>
  </p:notesMasterIdLst>
  <p:handoutMasterIdLst>
    <p:handoutMasterId r:id="rId34"/>
  </p:handoutMasterIdLst>
  <p:sldIdLst>
    <p:sldId id="257" r:id="rId4"/>
    <p:sldId id="957" r:id="rId5"/>
    <p:sldId id="1568" r:id="rId6"/>
    <p:sldId id="1569" r:id="rId7"/>
    <p:sldId id="1570" r:id="rId8"/>
    <p:sldId id="1571" r:id="rId9"/>
    <p:sldId id="1590" r:id="rId10"/>
    <p:sldId id="1572" r:id="rId11"/>
    <p:sldId id="1574" r:id="rId12"/>
    <p:sldId id="1573" r:id="rId13"/>
    <p:sldId id="1575" r:id="rId14"/>
    <p:sldId id="1576" r:id="rId15"/>
    <p:sldId id="1577" r:id="rId16"/>
    <p:sldId id="1578" r:id="rId17"/>
    <p:sldId id="1579" r:id="rId18"/>
    <p:sldId id="1580" r:id="rId19"/>
    <p:sldId id="1581" r:id="rId20"/>
    <p:sldId id="1582" r:id="rId21"/>
    <p:sldId id="1586" r:id="rId22"/>
    <p:sldId id="1589" r:id="rId23"/>
    <p:sldId id="1596" r:id="rId24"/>
    <p:sldId id="1592" r:id="rId25"/>
    <p:sldId id="1594" r:id="rId26"/>
    <p:sldId id="1587" r:id="rId27"/>
    <p:sldId id="1591" r:id="rId28"/>
    <p:sldId id="1595" r:id="rId29"/>
    <p:sldId id="1583" r:id="rId30"/>
    <p:sldId id="1584" r:id="rId31"/>
    <p:sldId id="1585" r:id="rId32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38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화평 박" initials="화박" lastIdx="1" clrIdx="0">
    <p:extLst>
      <p:ext uri="{19B8F6BF-5375-455C-9EA6-DF929625EA0E}">
        <p15:presenceInfo xmlns:p15="http://schemas.microsoft.com/office/powerpoint/2012/main" userId="63522e605ae1cf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9BB"/>
    <a:srgbClr val="2B4D89"/>
    <a:srgbClr val="406DC8"/>
    <a:srgbClr val="1B365D"/>
    <a:srgbClr val="366950"/>
    <a:srgbClr val="4B8368"/>
    <a:srgbClr val="0000FF"/>
    <a:srgbClr val="39489D"/>
    <a:srgbClr val="9ECB7F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66" autoAdjust="0"/>
  </p:normalViewPr>
  <p:slideViewPr>
    <p:cSldViewPr snapToGrid="0">
      <p:cViewPr varScale="1">
        <p:scale>
          <a:sx n="84" d="100"/>
          <a:sy n="84" d="100"/>
        </p:scale>
        <p:origin x="1200" y="39"/>
      </p:cViewPr>
      <p:guideLst>
        <p:guide pos="2438"/>
        <p:guide orient="horz" pos="6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32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C46E145-B1F7-77CB-E0D1-A0BBC226D1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039323-5576-AAA5-F395-3BE17DE83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662AA-D744-4511-AC5C-6F3C12A0945D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001B29-F772-4748-D940-4CE8A29154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8D725C-0505-5CB6-26C0-3824411729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77B8A-2DC3-4D56-9EC5-BF1DDBF314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5525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9" cy="498056"/>
          </a:xfrm>
          <a:prstGeom prst="rect">
            <a:avLst/>
          </a:prstGeom>
        </p:spPr>
        <p:txBody>
          <a:bodyPr vert="horz" lIns="91293" tIns="45646" rIns="91293" bIns="4564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2"/>
            <a:ext cx="2945659" cy="498056"/>
          </a:xfrm>
          <a:prstGeom prst="rect">
            <a:avLst/>
          </a:prstGeom>
        </p:spPr>
        <p:txBody>
          <a:bodyPr vert="horz" lIns="91293" tIns="45646" rIns="91293" bIns="45646" rtlCol="0"/>
          <a:lstStyle>
            <a:lvl1pPr algn="r">
              <a:defRPr sz="1200"/>
            </a:lvl1pPr>
          </a:lstStyle>
          <a:p>
            <a:fld id="{4479AA39-C33E-44FF-8516-A474169361DF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3" tIns="45646" rIns="91293" bIns="4564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7"/>
            <a:ext cx="5438140" cy="3908613"/>
          </a:xfrm>
          <a:prstGeom prst="rect">
            <a:avLst/>
          </a:prstGeom>
        </p:spPr>
        <p:txBody>
          <a:bodyPr vert="horz" lIns="91293" tIns="45646" rIns="91293" bIns="45646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293" tIns="45646" rIns="91293" bIns="4564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293" tIns="45646" rIns="91293" bIns="45646" rtlCol="0" anchor="b"/>
          <a:lstStyle>
            <a:lvl1pPr algn="r">
              <a:defRPr sz="1200"/>
            </a:lvl1pPr>
          </a:lstStyle>
          <a:p>
            <a:fld id="{B2818BE8-BFC3-4822-99C5-6CCD942F9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71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4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BAB3-4978-6632-AEE6-4423E989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BEAE20-E5C9-1D27-42DF-511C00811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1B1279-BC95-8C7B-73D4-755351249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EC3C85-2DAD-D9A6-BF51-816007E9B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05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9DFE-8804-DCA8-0654-573F670E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1C8651-A98C-B9BF-193B-56AAD5807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BB6799-1A3B-A902-B7C5-04898864A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CB5D2F-0666-5181-FC65-8AC78266B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6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6A4F-68CF-1510-DCED-22F0DC11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425AC-5226-88F1-2C4F-374874F37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45684B-38B4-E9F5-8D97-3CDF97BC2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640C90-339E-68B0-B934-7079F5C672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139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1E45E-A4BC-5783-9181-B957A078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7667E7-D910-8321-E137-61C9E079F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D565E4-D337-685A-821B-740D0018D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CCCAA-C1A6-C16A-FCC8-C63DE7738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23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E935-F07F-601E-632B-F20ED4E9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2A4BD2-FE69-DCEC-3A07-3C9E0B03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37F73B-FCE5-C4A9-39BD-D402E4AF7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B6D72-21EB-9873-5F54-D258858F0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833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0A5F-1ADD-4070-17F0-49095D52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7F28DA-D9EE-7905-4D15-DF7CAF4CD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7CAB2D-9352-7D23-4B88-B50C5581F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601E10-6FA6-CE05-2525-7B9E913C3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554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F2632-36E6-2E86-B149-A3B8CBAE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A7CB63-CCAC-ADEB-28CD-6641E776E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8FBB-DB77-EDCE-9E91-5DD4B9FE5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219D5-CFFB-BAC3-DF0C-8BE299AF3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727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986E-37CC-D1F2-B1E5-7367BF2C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044B01-63DF-1382-9F83-4FAB8D058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E45DF-E362-9E82-7D99-14482E9A7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A1848E-AE30-3EC1-D388-1380ED2F4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14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2980-3B43-72DF-CF5D-F3A96511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9A563-B3BD-A761-840F-AF420CAB9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7DF831-3D83-5285-712B-18D3A3F8B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AF5570-1AF9-BE31-6984-7862E58DB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292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7054-FDDF-A8B3-22E5-6E1ED8FE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92655F-C9A2-4C3D-4A56-24D8B4E02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34AB08-12EB-5D36-8777-DDF4743D9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B3755-70BE-DF43-835A-B0FAA4A97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557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FDF8F-E940-BDFE-B463-67175939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D4E1C5-F894-36DD-7D67-E454D3B36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03EAE3-213F-6831-046B-8866457C3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C490A-271C-54EA-08FA-83922DF01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74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96B8B-8A9F-423D-68F4-B0F6BA6DC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A6EF64-307F-2F34-1F93-46A40FE79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E2F85F-7088-70B1-5D2D-4F7A780DB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AACC8-3F83-EC70-74C6-BDCCCFF38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355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4903-5C61-FD80-4DE8-79F954B9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F2A922-B887-C5BE-A00E-6DB2DE611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0577E-383B-615D-D8B9-54F15F374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BFD90-5CC0-D6CA-CC61-17B86125F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872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CF10-BDF0-CBAB-6072-9C7DE5B1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D03330-5A7D-BD6D-EBEC-8AD1D913C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891063-5B41-4D7D-D461-4258F1672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9682E6-9F15-C2D2-AD21-61D54B509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7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B238-CC59-D4CD-B7AE-586CAA2F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D02225-46F3-11AC-AA39-D7F2A34FB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B7E5F-B7F8-1B96-FF44-BCC4A7F2F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87E7A-2C01-2F2E-67A8-D654E36FF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9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0C50-47E9-8A29-5AE7-9B7FB419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9979F7-15D3-6A9E-F5BF-DDA28DE22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F7D6CC-F017-5C06-D6EC-278E7D0C1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B591E-9C51-5BE5-4CC1-69EAD3D17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20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77D26-F5DC-854B-1BB3-D6DD96A9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BFF25F-9D4C-467B-D6E1-5B5A2EFFB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807FBE-7994-72F1-9CF9-CA5F9AA95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72F01-3042-9203-231F-752C7C6B8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43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2A1C-9EDF-FAAB-8D45-5F756F6C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9CB4B4-E36F-298C-C94E-A035CBE4C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B87940-D7F6-3034-1E70-335A01F88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24685-164E-04C8-BDA5-FE3B368EF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914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C3483-F32B-A081-951C-7A7EDD03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AFB1B-7DD6-A6E5-71B1-FF77EC390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8D0B7A-A664-CB6E-E12F-2F202CF8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F15CFF-D651-3565-193D-86C34F825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457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A87D-9A40-166D-7564-E13F7BEA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62202-88C9-C069-7433-68761F731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8CB653-CB06-80CB-FAF7-44F95709A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7B1AA2-D187-27C9-AAB4-340716612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463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07DA-6BF1-5160-645F-2694497F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EF0BA-E267-7BC3-A00C-03B9BF564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9C62FD-797D-8199-CD3D-A7267DD05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90BC6-6657-39B5-D9BD-C2B0A1E61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309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6979-2285-F895-7B6D-019245C8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5E8A18-16EC-F479-6A7D-9F916A671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3D056F-84AD-0D13-D74F-78A0451AE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380B2F-E996-2EFF-752E-8F8FF615C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028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B159-D08A-D124-278C-50DBAC36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73935-92BE-A665-DB96-200B28B64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A919C0-32B7-8742-A98D-F2EFBAC6A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E7B9A-2A75-FECB-46FE-B748A4D9B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270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1DF1-E35C-CC90-DEDF-10F718C7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7FD725-43EA-A5E1-97D9-DDF83ED1E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791C5D-4B0C-C466-4613-A700025AE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9977A-2358-66C6-111E-C79F26579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311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87A3-B6CD-736B-8123-56C194C2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9E492-A5DF-21FC-190F-2C4D6D89F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DEBB3B-548D-00E9-30EB-B6A43BDC6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BB0933-F4E9-863F-FCD3-06C53FC2F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5606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4510-C242-0D1A-AC7C-6820ECF3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2FE912-0986-594C-D48E-AC34FEF0F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6157BB-E6FD-FEBC-F812-3FCED8E5A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6840E-D7AA-53B8-398B-CC4192F7A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1367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7674-8E93-C3CB-3C74-6DB0BE08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70FEA-AD80-3936-2A2A-679329D90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2A6921-C0CF-98D4-8E41-64A4C2C25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5003D6-D899-248A-9853-70D33EB56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5548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DD429-93CC-D1AE-EB7A-435052BC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001D4F-D151-7A58-7006-743FBA39E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5225" y="1241425"/>
            <a:ext cx="44672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AA37E8-6DE6-030A-B895-27935F712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3200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EB8E7-D8B0-93A7-1A1F-6F6344369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18BE8-BFC3-4822-99C5-6CCD942F95F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53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E9E12-AD01-FAE1-45BE-1607C574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CE1309-5856-734A-AB5B-05E9D8AE7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7EB7C-2904-66B7-ECF5-9070B677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A71C2C-0AD3-C90B-BB1E-5AE7A757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23C13-E1B9-682C-06F4-1A9DC89C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43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79BAC-AEFA-4EB8-074A-33967AAC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F7671-35E9-CACD-8775-464E86AFD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770C9-CEAF-E7DC-9DA6-31A3B786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9B05B-050D-7F0B-FAAD-6DC29295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35A6C-2C4D-08EA-952D-7146FDF4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538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FE955-5D3A-37B4-9171-4F9042592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C705E-306F-DBDF-5792-0D974922B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C1CC0F-B943-CFF6-4216-27F21C1A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324C7-99F9-B5DF-3068-0DB4C784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B4B5B-360C-B7AE-4AE4-E8CF9DE9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0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CBA93-1510-BBBB-1BF2-42A736EC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28539-E2D4-0A7B-56B7-A7DB18C38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10AA69-8039-9D34-BAF3-ABB4D527A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D14344-18FD-332E-01C3-BBDC7E6C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9A4534-4B5D-5A89-97C2-1B26EF29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D160CD-0CDB-2B1C-43FB-319FF378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87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B8DD7-94B4-7E4C-2076-A4567D25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B05870-CCE1-C660-28A9-97F9DD69B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FA6D04-3091-627E-BEF8-EFF31F234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B5A355-C7FD-61AC-81D7-0AEDD217C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4070AB-D3B3-CA57-3D52-82CF6B23C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644B83-494D-C7FB-533D-904174B3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1654F6-114F-E6FF-C1C4-C44438A0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40AB32-DE89-9432-6485-8260F724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54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07469-DA97-BB31-DF51-D07B5EEC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78BFAC-F502-2263-A621-6E779918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6391E2-839B-51C1-89CD-241401932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8B9DE8-915A-13B4-671E-07C66D21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40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E405F8-D9AB-C087-143D-ADDC895A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D4DE9B-0AE8-7F51-153D-2BBC515A8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73C5AA-A173-6F00-D8C6-EB00C99C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00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6194F-2864-5FC2-413D-E5B0D4D19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BDA36-9A20-5D58-7435-0E25CB520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F717D-B8BD-4823-8F84-A719E0007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9F46B0-2671-1E96-BFF8-E8BCDA32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2EC795-0EAD-48A1-F46A-3E0ECC010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6232ED-A5D1-38EA-D251-552E25FD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56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09AA1-8D51-93B3-87F9-6F99F3C7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6AE6D3-7D25-B0FD-FB32-FDEF9FFB6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9F7A73-AD13-565A-A104-A9759A49E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434B6B-4BBA-F61F-2EFF-35077474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F11809-3F5F-9B67-825B-E7261C64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EBA3D5-2028-5D87-37D9-59D88905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28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AFE94-7A3E-B280-862F-B7C56AAE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A64C21-DB3C-6AD6-364B-8E9DFC9AE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E95AAF-E779-F604-4481-51868B18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731253-CFB2-D687-4ECF-62DC77A6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9DD0F-E698-80C1-0EB7-3EABE7A6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7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0FAE3E-1D2E-C8BA-50B1-E9EADA5C0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423159-9F89-CC5B-C4E8-FA1C02179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28DE7-D9D3-E16F-4EBF-E909E91F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AF6BB-D9C2-7F04-C4B0-C2AEE1C6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266EE-249E-4F44-983D-5A8E6A07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0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16A91-50BC-8736-B4B2-DC5AEFF5D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8B2FF4-C568-B368-C666-680623874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54249-B318-F585-34E2-AB5EF29A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A33CF7-C10B-A3C4-AFE3-99B54822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E10E09-EAE9-9FB1-1356-AB0C5410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019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EF84D-6297-D06F-30D1-F7F6B6B9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2544E-36B0-079A-3143-4D792C52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753C0B-F706-2CC5-A31F-47B81FDF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E9F715-50E5-D192-686E-0694F77F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ECFED-0461-8DCF-CD7D-5FFDF03A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3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3CBEB-B96F-2E5B-30A3-B3AFD2CD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1BE230-1862-AB6E-FFF6-7C73D5B1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28D0E6-8C1C-00A1-BF1B-6CFF41CE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25C29-443E-CEBF-E365-8C0992E3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D7304-5333-C109-37F7-75C0E88E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81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075DF-EE1F-3DBA-62EB-BC20AEBF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436FB-A81E-1D0E-32D1-606255379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5195BD-3404-C74F-B7D8-CF55FC774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48869-B75B-1004-B094-1C345222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56797E-E388-03D3-FB9A-24983905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3DCEA-A70F-FB8E-CFB0-67ADBD8B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385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F0EBB-889C-79CF-0DDF-99AC24F8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318121-83FF-CBBA-35EA-DC519D2C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36386A-C0A5-DDA1-46A5-4E8C597C1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79CBF9-102A-AE71-6B3B-A01296CA8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F4F6D9-A874-CCCF-A015-8A2A63286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1D42FC-5717-7B3B-6EA1-2E539E84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FC49F5-E98C-EC0F-37DD-D3776DBB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8A43EC-D189-BE96-030B-786AA2FE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796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73545-A68B-677D-06F0-3A1F162E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FF311C-B7E2-7855-B2BC-474AB24B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BBAFBB-20A2-DCB5-571D-15324BF0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EC0A8E-73B4-D491-30EC-C15E9183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911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2E4497-CCD8-1715-FBA6-EE579091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9F2620-17F9-F27A-8BE7-02542342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64843-679A-8829-132B-6D55448D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21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4C5C8-44AC-F119-AED5-8F1A4FC2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07C46-5156-67EC-D635-7CD7B3BE4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03315E-56A8-1B00-AE6D-EF61CDF08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E61DE4-44BB-77C1-BBDE-4F3559E3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0F0B0C-C37B-9B8B-2374-06B40059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8ECACD-318E-BE77-1745-D64DC009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285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A4463-7D57-12FC-50A9-E31ED9D76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E9BCE5-176B-221D-A93A-821EBD556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3A0D10-646F-4356-8BED-AB8FA6899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642281-4C41-7187-2547-9B9A209F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BA98C2-37C1-EA8B-4685-89367D69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DD7A3E-C570-56BB-9DB0-4CE62541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7933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97355-81AD-FCBE-E19A-D055274E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F38B88-296D-F6A4-539C-0C37D8810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84E4D-2755-2825-C84B-F65FAD0D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C6E969-EEE0-F263-669B-59A68EC2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FD92A4-94DC-0D62-C3F7-6AB392DF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228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360B58-0793-BFB7-3733-CDF1BEDF0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63DCC-BE24-4AE0-52A1-42B7E091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57B9DF-A8E3-D5F0-BBA5-C8459682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A8A2E-6494-BBDF-3B1D-9B101E20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4B4FF-AEF2-9343-566E-A1E29DF82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841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962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553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16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03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21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177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209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429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236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4867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43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292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" y="1"/>
            <a:ext cx="9144000" cy="6858000"/>
          </a:xfrm>
          <a:prstGeom prst="rect">
            <a:avLst/>
          </a:prstGeom>
          <a:pattFill prst="dkDnDiag">
            <a:fgClr>
              <a:schemeClr val="bg1"/>
            </a:fgClr>
            <a:bgClr>
              <a:schemeClr val="bg1">
                <a:lumMod val="95000"/>
              </a:schemeClr>
            </a:bgClr>
          </a:pattFill>
          <a:ln w="1174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4D38B5-8A56-41E3-8999-F6F85C1C3C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14" t="21315"/>
          <a:stretch/>
        </p:blipFill>
        <p:spPr>
          <a:xfrm>
            <a:off x="-6632" y="-1"/>
            <a:ext cx="920446" cy="29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357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" y="1"/>
            <a:ext cx="9144000" cy="6858000"/>
          </a:xfrm>
          <a:prstGeom prst="rect">
            <a:avLst/>
          </a:prstGeom>
          <a:pattFill prst="dkDnDiag">
            <a:fgClr>
              <a:schemeClr val="bg1"/>
            </a:fgClr>
            <a:bgClr>
              <a:schemeClr val="bg1">
                <a:lumMod val="95000"/>
              </a:schemeClr>
            </a:bgClr>
          </a:pattFill>
          <a:ln w="1174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11159967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" y="1"/>
            <a:ext cx="9144000" cy="6858000"/>
          </a:xfrm>
          <a:prstGeom prst="rect">
            <a:avLst/>
          </a:prstGeom>
          <a:pattFill prst="dkDnDiag">
            <a:fgClr>
              <a:schemeClr val="bg1"/>
            </a:fgClr>
            <a:bgClr>
              <a:schemeClr val="bg1">
                <a:lumMod val="95000"/>
              </a:schemeClr>
            </a:bgClr>
          </a:pattFill>
          <a:ln w="1174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1230993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37D68E7-0BAE-464B-802B-9F89AE4DD5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14" t="21315"/>
          <a:stretch/>
        </p:blipFill>
        <p:spPr>
          <a:xfrm>
            <a:off x="-6632" y="-1"/>
            <a:ext cx="920446" cy="29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08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" y="1"/>
            <a:ext cx="9144000" cy="6858000"/>
          </a:xfrm>
          <a:prstGeom prst="rect">
            <a:avLst/>
          </a:prstGeom>
          <a:pattFill prst="dkDnDiag">
            <a:fgClr>
              <a:schemeClr val="bg1"/>
            </a:fgClr>
            <a:bgClr>
              <a:schemeClr val="bg1">
                <a:lumMod val="95000"/>
              </a:schemeClr>
            </a:bgClr>
          </a:pattFill>
          <a:ln w="1174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4D38B5-8A56-41E3-8999-F6F85C1C3C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14" t="21315"/>
          <a:stretch/>
        </p:blipFill>
        <p:spPr>
          <a:xfrm>
            <a:off x="-6632" y="-1"/>
            <a:ext cx="920446" cy="291621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925DDA6-8F3E-4ED5-87D9-8A809A9EA993}"/>
              </a:ext>
            </a:extLst>
          </p:cNvPr>
          <p:cNvSpPr/>
          <p:nvPr userDrawn="1"/>
        </p:nvSpPr>
        <p:spPr>
          <a:xfrm>
            <a:off x="8591332" y="6449382"/>
            <a:ext cx="291620" cy="291618"/>
          </a:xfrm>
          <a:prstGeom prst="ellipse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fld id="{D6030ABB-7EFB-4D79-B2E2-50F5FEB4E244}" type="slidenum">
              <a:rPr lang="ko-KR" altLang="en-US" sz="900" spc="-113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rPr>
              <a:pPr algn="ctr"/>
              <a:t>‹#›</a:t>
            </a:fld>
            <a:endParaRPr lang="ko-KR" altLang="en-US" sz="900" spc="-113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자유형: 도형 77">
            <a:extLst>
              <a:ext uri="{FF2B5EF4-FFF2-40B4-BE49-F238E27FC236}">
                <a16:creationId xmlns:a16="http://schemas.microsoft.com/office/drawing/2014/main" id="{18E99DA6-440A-41C6-8B39-D0266302CA16}"/>
              </a:ext>
            </a:extLst>
          </p:cNvPr>
          <p:cNvSpPr/>
          <p:nvPr userDrawn="1"/>
        </p:nvSpPr>
        <p:spPr>
          <a:xfrm flipH="1" flipV="1">
            <a:off x="486591" y="869866"/>
            <a:ext cx="8255431" cy="45719"/>
          </a:xfrm>
          <a:custGeom>
            <a:avLst/>
            <a:gdLst>
              <a:gd name="connsiteX0" fmla="*/ 0 w 4191000"/>
              <a:gd name="connsiteY0" fmla="*/ 76200 h 76200"/>
              <a:gd name="connsiteX1" fmla="*/ 4191000 w 4191000"/>
              <a:gd name="connsiteY1" fmla="*/ 76200 h 76200"/>
              <a:gd name="connsiteX2" fmla="*/ 4086225 w 4191000"/>
              <a:gd name="connsiteY2" fmla="*/ 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0" h="76200">
                <a:moveTo>
                  <a:pt x="0" y="76200"/>
                </a:moveTo>
                <a:lnTo>
                  <a:pt x="4191000" y="76200"/>
                </a:lnTo>
                <a:lnTo>
                  <a:pt x="4086225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29483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4FF960-5BED-76B6-D8A2-93C70344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C843E2-2289-7593-15D6-1DDA18D1B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1ADCF2-EF9D-8EF8-495B-833C365E9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1E09E-67C6-4F58-95A7-E76BACBCFA0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2A630-DA61-F0BC-932E-E43CA2CCF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D56DEF-4C23-7DBA-8D4B-53D777E20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5C8368-018B-4ACA-9DB6-8B9BE771AA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68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0764E1-494B-0E2C-6AFC-F5D5A190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D57F58-7885-6F48-3D03-815BA13F8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A0C5C4-77EC-5A4D-1AD5-4263EBDB9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D6EC8-42EE-459D-9517-0C21C9552793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E90C8-2A19-99C5-2883-EE7E7E601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4F7500-4C45-009C-BF96-5F58BCBA8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C3FDB-36A4-4678-8CED-4A86A85C33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12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211C7-D436-425A-AFBF-2492CDCA2AF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70F0D-7534-4AEC-95DE-13C48B78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4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672" r:id="rId13"/>
    <p:sldLayoutId id="2147483673" r:id="rId14"/>
    <p:sldLayoutId id="2147483674" r:id="rId15"/>
    <p:sldLayoutId id="2147483668" r:id="rId16"/>
    <p:sldLayoutId id="2147483675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8b0ad89f26c07eb609.gradio.live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E8A2AD-B082-F280-8715-CD0463D1B4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5" t="29543" r="10381" b="23774"/>
          <a:stretch>
            <a:fillRect/>
          </a:stretch>
        </p:blipFill>
        <p:spPr>
          <a:xfrm>
            <a:off x="6915149" y="142897"/>
            <a:ext cx="2177416" cy="513577"/>
          </a:xfrm>
          <a:prstGeom prst="rect">
            <a:avLst/>
          </a:prstGeom>
        </p:spPr>
      </p:pic>
      <p:grpSp>
        <p:nvGrpSpPr>
          <p:cNvPr id="9" name="Group 2">
            <a:extLst>
              <a:ext uri="{FF2B5EF4-FFF2-40B4-BE49-F238E27FC236}">
                <a16:creationId xmlns:a16="http://schemas.microsoft.com/office/drawing/2014/main" id="{0FBF44EC-6636-F8BD-273C-DCA6A9D3B3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4781551"/>
            <a:ext cx="9144000" cy="2076449"/>
            <a:chOff x="0" y="0"/>
            <a:chExt cx="24384000" cy="4400550"/>
          </a:xfrm>
        </p:grpSpPr>
        <p:sp>
          <p:nvSpPr>
            <p:cNvPr id="10" name="Freeform 3" descr="image.png">
              <a:extLst>
                <a:ext uri="{FF2B5EF4-FFF2-40B4-BE49-F238E27FC236}">
                  <a16:creationId xmlns:a16="http://schemas.microsoft.com/office/drawing/2014/main" id="{EFA40343-FB01-9660-5D77-E75255EAF8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4400550"/>
            </a:xfrm>
            <a:custGeom>
              <a:avLst/>
              <a:gdLst/>
              <a:ahLst/>
              <a:cxnLst/>
              <a:rect l="l" t="t" r="r" b="b"/>
              <a:pathLst>
                <a:path w="24384000" h="4400550">
                  <a:moveTo>
                    <a:pt x="0" y="0"/>
                  </a:moveTo>
                  <a:lnTo>
                    <a:pt x="24384000" y="0"/>
                  </a:lnTo>
                  <a:lnTo>
                    <a:pt x="243840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 sz="135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7275BA3-B041-F3F9-0E4D-08A89DBFB3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4521" y="1150570"/>
            <a:ext cx="6720628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75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Traffic Sign Recognition Project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1F28F1B-56C2-091C-1EDD-E50187D619E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A1543A5-5472-093F-1376-2A0930C0710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4521" y="5485068"/>
            <a:ext cx="2713214" cy="1265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4</a:t>
            </a:r>
            <a:br>
              <a:rPr lang="en-US" altLang="ko-KR" sz="1875" dirty="0">
                <a:solidFill>
                  <a:schemeClr val="bg1"/>
                </a:solidFill>
                <a:latin typeface="Arial" panose="020B0604020202020204" pitchFamily="34" charset="0"/>
                <a:ea typeface="G마켓 산스 Medium" panose="02000000000000000000" pitchFamily="50" charset="-127"/>
                <a:cs typeface="Arial" panose="020B0604020202020204" pitchFamily="34" charset="0"/>
              </a:rPr>
            </a:br>
            <a:r>
              <a:rPr lang="en-US" altLang="ko-KR" sz="1875" dirty="0">
                <a:solidFill>
                  <a:schemeClr val="bg1"/>
                </a:solidFill>
                <a:latin typeface="Arial" panose="020B0604020202020204" pitchFamily="34" charset="0"/>
                <a:ea typeface="G마켓 산스 Medium" panose="02000000000000000000" pitchFamily="50" charset="-127"/>
                <a:cs typeface="Arial" panose="020B0604020202020204" pitchFamily="34" charset="0"/>
              </a:rPr>
              <a:t>Seojeong Kim · Minjun Park · Hyunwoo Song ·  </a:t>
            </a:r>
            <a:r>
              <a:rPr lang="en-US" altLang="ko-KR" sz="1875" dirty="0" err="1">
                <a:solidFill>
                  <a:schemeClr val="bg1"/>
                </a:solidFill>
                <a:latin typeface="Arial" panose="020B0604020202020204" pitchFamily="34" charset="0"/>
                <a:ea typeface="G마켓 산스 Medium" panose="02000000000000000000" pitchFamily="50" charset="-127"/>
                <a:cs typeface="Arial" panose="020B0604020202020204" pitchFamily="34" charset="0"/>
              </a:rPr>
              <a:t>Eungyu</a:t>
            </a:r>
            <a:r>
              <a:rPr lang="en-US" altLang="ko-KR" sz="1875" dirty="0">
                <a:solidFill>
                  <a:schemeClr val="bg1"/>
                </a:solidFill>
                <a:latin typeface="Arial" panose="020B0604020202020204" pitchFamily="34" charset="0"/>
                <a:ea typeface="G마켓 산스 Medium" panose="02000000000000000000" pitchFamily="50" charset="-127"/>
                <a:cs typeface="Arial" panose="020B0604020202020204" pitchFamily="34" charset="0"/>
              </a:rPr>
              <a:t> Park</a:t>
            </a:r>
          </a:p>
        </p:txBody>
      </p:sp>
      <p:pic>
        <p:nvPicPr>
          <p:cNvPr id="20" name="그림 19" descr="하늘, 야외, 건물, 나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A36324-9AA8-470C-611A-66E3930257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11" y="3771905"/>
            <a:ext cx="5600690" cy="308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6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192CF-2D56-84B8-A84C-078B259A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B0D2F39-436F-4381-62E2-DBA2B7BF431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B88C1D6-571B-F181-0BDE-8D347358B5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Project goal &amp; 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Core Research Question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BF8FB-3B91-4CAB-99A8-BB5B8D6CDC20}"/>
              </a:ext>
            </a:extLst>
          </p:cNvPr>
          <p:cNvSpPr txBox="1"/>
          <p:nvPr/>
        </p:nvSpPr>
        <p:spPr>
          <a:xfrm>
            <a:off x="406376" y="1019953"/>
            <a:ext cx="8130405" cy="2724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Project Goal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Build a CNN-based traffic sign classifier using GTSRB, then evaluate how well the learned visual features transfer to real-road crops and synthetic sign images.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Input: traffic sign image or cropped sign region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Output: one of 43 classes + confidence score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Models: custom CNN baseline + EfficientNet-B0 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391983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2C64-955E-7984-BEDA-B8822B0C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30071E7-3D94-ACDB-2BC4-B4B31F79851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281376E-998C-C0DE-F307-E2ADCFB42F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Project goal &amp; 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Core Research Question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8F6AC-2952-DEB2-0634-F215BAE37773}"/>
              </a:ext>
            </a:extLst>
          </p:cNvPr>
          <p:cNvSpPr txBox="1"/>
          <p:nvPr/>
        </p:nvSpPr>
        <p:spPr>
          <a:xfrm>
            <a:off x="406376" y="1019953"/>
            <a:ext cx="8130405" cy="1985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Core Research Question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If a model performs very well on clean cropped traffic signs, will it still work on real-road crops and synthetic environmental variations?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Why it matters: traffic sign recognition is useful only if the model is robust to lighting, resolution, crop quality, and camera conditions.</a:t>
            </a: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52930EDD-A144-5910-EC58-B9B0592AF0E9}"/>
              </a:ext>
            </a:extLst>
          </p:cNvPr>
          <p:cNvSpPr/>
          <p:nvPr/>
        </p:nvSpPr>
        <p:spPr>
          <a:xfrm>
            <a:off x="406376" y="4291431"/>
            <a:ext cx="2370057" cy="1155211"/>
          </a:xfrm>
          <a:prstGeom prst="rect">
            <a:avLst/>
          </a:prstGeom>
          <a:solidFill>
            <a:srgbClr val="0B2A42"/>
          </a:solidFill>
          <a:ln w="12700">
            <a:solidFill>
              <a:srgbClr val="35C2FF">
                <a:alpha val="9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cropped signs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GTSRB</a:t>
            </a:r>
            <a:endParaRPr lang="en-US" sz="1600" dirty="0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2F55F126-0EE0-520F-A537-D86670AB96BF}"/>
              </a:ext>
            </a:extLst>
          </p:cNvPr>
          <p:cNvSpPr/>
          <p:nvPr/>
        </p:nvSpPr>
        <p:spPr>
          <a:xfrm>
            <a:off x="3053870" y="4291432"/>
            <a:ext cx="2778980" cy="1155210"/>
          </a:xfrm>
          <a:prstGeom prst="rect">
            <a:avLst/>
          </a:prstGeom>
          <a:solidFill>
            <a:srgbClr val="0B2A42"/>
          </a:solidFill>
          <a:ln w="12700">
            <a:solidFill>
              <a:srgbClr val="35C2FF">
                <a:alpha val="9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cropped signs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GTSRB</a:t>
            </a:r>
            <a:endParaRPr lang="en-US" sz="160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3E57DE03-A055-B301-7E70-AF4DD0EB1FE7}"/>
              </a:ext>
            </a:extLst>
          </p:cNvPr>
          <p:cNvSpPr/>
          <p:nvPr/>
        </p:nvSpPr>
        <p:spPr>
          <a:xfrm>
            <a:off x="6110287" y="4291431"/>
            <a:ext cx="2576752" cy="1155201"/>
          </a:xfrm>
          <a:prstGeom prst="rect">
            <a:avLst/>
          </a:prstGeom>
          <a:solidFill>
            <a:srgbClr val="0B2A42"/>
          </a:solidFill>
          <a:ln w="12700">
            <a:solidFill>
              <a:srgbClr val="35C2FF">
                <a:alpha val="9000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signs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Synset</a:t>
            </a:r>
            <a:endParaRPr lang="en-US" sz="16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A5B42DB4-B1C5-5EF1-0031-4090B397A992}"/>
              </a:ext>
            </a:extLst>
          </p:cNvPr>
          <p:cNvSpPr/>
          <p:nvPr/>
        </p:nvSpPr>
        <p:spPr>
          <a:xfrm rot="5400000">
            <a:off x="2794721" y="4737967"/>
            <a:ext cx="225552" cy="262128"/>
          </a:xfrm>
          <a:prstGeom prst="triangle">
            <a:avLst/>
          </a:prstGeom>
          <a:solidFill>
            <a:srgbClr val="35C2FF"/>
          </a:solidFill>
          <a:ln w="12700">
            <a:solidFill>
              <a:srgbClr val="35C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5C3D7C0-22C6-C73A-9196-EDE4DEC37FEB}"/>
              </a:ext>
            </a:extLst>
          </p:cNvPr>
          <p:cNvSpPr/>
          <p:nvPr/>
        </p:nvSpPr>
        <p:spPr>
          <a:xfrm rot="5400000">
            <a:off x="5858792" y="4737967"/>
            <a:ext cx="225552" cy="262128"/>
          </a:xfrm>
          <a:prstGeom prst="triangle">
            <a:avLst/>
          </a:prstGeom>
          <a:solidFill>
            <a:srgbClr val="35C2FF"/>
          </a:solidFill>
          <a:ln w="12700">
            <a:solidFill>
              <a:srgbClr val="35C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84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1E5B5-E0F3-3B45-BDB3-2048E031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CF648FA-038F-7FF3-4D85-C6DD47C6B72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03CB486-FE5B-E246-88B0-AAC139D53C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Dataset Explanation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5B51B0-F984-C267-916D-A9C8B5E49BD9}"/>
              </a:ext>
            </a:extLst>
          </p:cNvPr>
          <p:cNvSpPr txBox="1"/>
          <p:nvPr/>
        </p:nvSpPr>
        <p:spPr>
          <a:xfrm>
            <a:off x="406376" y="1019953"/>
            <a:ext cx="8130405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 is the main dataset; GTSDB and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are used to test and improve generalization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Metric caution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GTSDB Full/reference accuracy includes some images that may have been used for domain adaptation, so it is not a pure unseen external-test score.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EA6E0BD-E981-0DE1-7110-C65936B2162F}"/>
              </a:ext>
            </a:extLst>
          </p:cNvPr>
          <p:cNvGrpSpPr/>
          <p:nvPr/>
        </p:nvGrpSpPr>
        <p:grpSpPr>
          <a:xfrm>
            <a:off x="476989" y="3211765"/>
            <a:ext cx="2544545" cy="3365652"/>
            <a:chOff x="658368" y="1481328"/>
            <a:chExt cx="3154680" cy="4023360"/>
          </a:xfrm>
        </p:grpSpPr>
        <p:sp>
          <p:nvSpPr>
            <p:cNvPr id="49" name="Shape 6">
              <a:extLst>
                <a:ext uri="{FF2B5EF4-FFF2-40B4-BE49-F238E27FC236}">
                  <a16:creationId xmlns:a16="http://schemas.microsoft.com/office/drawing/2014/main" id="{F77DC4D1-B893-459A-CFFB-88C471AB7377}"/>
                </a:ext>
              </a:extLst>
            </p:cNvPr>
            <p:cNvSpPr/>
            <p:nvPr/>
          </p:nvSpPr>
          <p:spPr>
            <a:xfrm>
              <a:off x="658368" y="1481328"/>
              <a:ext cx="3154680" cy="4023360"/>
            </a:xfrm>
            <a:prstGeom prst="roundRect">
              <a:avLst>
                <a:gd name="adj" fmla="val 231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2EDD8C41-9741-DDE2-EB0A-92CE648DFC10}"/>
                </a:ext>
              </a:extLst>
            </p:cNvPr>
            <p:cNvSpPr/>
            <p:nvPr/>
          </p:nvSpPr>
          <p:spPr>
            <a:xfrm>
              <a:off x="886968" y="1737360"/>
              <a:ext cx="1508760" cy="329184"/>
            </a:xfrm>
            <a:prstGeom prst="rect">
              <a:avLst/>
            </a:prstGeom>
            <a:solidFill>
              <a:srgbClr val="DBEAFE"/>
            </a:solidFill>
            <a:ln>
              <a:solidFill>
                <a:srgbClr val="DBEAFE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40" b="1" dirty="0">
                  <a:solidFill>
                    <a:srgbClr val="2563E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GTSRB</a:t>
              </a:r>
              <a:endParaRPr lang="en-US" sz="1240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A9F09931-E336-09CD-25AB-57645A4B9C9E}"/>
                </a:ext>
              </a:extLst>
            </p:cNvPr>
            <p:cNvSpPr/>
            <p:nvPr/>
          </p:nvSpPr>
          <p:spPr>
            <a:xfrm>
              <a:off x="886968" y="2240280"/>
              <a:ext cx="2651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11827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Main Data set</a:t>
              </a:r>
              <a:endParaRPr lang="en-US" sz="1450" dirty="0"/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8E98C54E-E03B-9566-7F2A-179B43B3191A}"/>
                </a:ext>
              </a:extLst>
            </p:cNvPr>
            <p:cNvSpPr/>
            <p:nvPr/>
          </p:nvSpPr>
          <p:spPr>
            <a:xfrm>
              <a:off x="978408" y="2880360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51,839 images</a:t>
              </a:r>
              <a:endParaRPr lang="en-US" sz="1350" dirty="0"/>
            </a:p>
          </p:txBody>
        </p:sp>
        <p:sp>
          <p:nvSpPr>
            <p:cNvPr id="53" name="Shape 10">
              <a:extLst>
                <a:ext uri="{FF2B5EF4-FFF2-40B4-BE49-F238E27FC236}">
                  <a16:creationId xmlns:a16="http://schemas.microsoft.com/office/drawing/2014/main" id="{954AC23E-4222-7DA0-41A4-CB11762A56D3}"/>
                </a:ext>
              </a:extLst>
            </p:cNvPr>
            <p:cNvSpPr/>
            <p:nvPr/>
          </p:nvSpPr>
          <p:spPr>
            <a:xfrm>
              <a:off x="832104" y="2962656"/>
              <a:ext cx="64008" cy="64008"/>
            </a:xfrm>
            <a:prstGeom prst="ellips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91A14E46-CF7D-3B0C-C162-CD228216A192}"/>
                </a:ext>
              </a:extLst>
            </p:cNvPr>
            <p:cNvSpPr/>
            <p:nvPr/>
          </p:nvSpPr>
          <p:spPr>
            <a:xfrm>
              <a:off x="978408" y="3319272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43 classes</a:t>
              </a:r>
              <a:endParaRPr lang="en-US" sz="1350" dirty="0"/>
            </a:p>
          </p:txBody>
        </p:sp>
        <p:sp>
          <p:nvSpPr>
            <p:cNvPr id="55" name="Shape 12">
              <a:extLst>
                <a:ext uri="{FF2B5EF4-FFF2-40B4-BE49-F238E27FC236}">
                  <a16:creationId xmlns:a16="http://schemas.microsoft.com/office/drawing/2014/main" id="{56B72BCB-6500-7D2F-10FF-988374E3E537}"/>
                </a:ext>
              </a:extLst>
            </p:cNvPr>
            <p:cNvSpPr/>
            <p:nvPr/>
          </p:nvSpPr>
          <p:spPr>
            <a:xfrm>
              <a:off x="832104" y="3401568"/>
              <a:ext cx="64008" cy="64008"/>
            </a:xfrm>
            <a:prstGeom prst="ellips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3CEB6136-6BCB-0D9F-87EF-35D90A81B07A}"/>
                </a:ext>
              </a:extLst>
            </p:cNvPr>
            <p:cNvSpPr/>
            <p:nvPr/>
          </p:nvSpPr>
          <p:spPr>
            <a:xfrm>
              <a:off x="978408" y="3758184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clean cropped sign</a:t>
              </a:r>
              <a:endParaRPr lang="en-US" sz="1350" dirty="0"/>
            </a:p>
          </p:txBody>
        </p:sp>
        <p:sp>
          <p:nvSpPr>
            <p:cNvPr id="57" name="Shape 14">
              <a:extLst>
                <a:ext uri="{FF2B5EF4-FFF2-40B4-BE49-F238E27FC236}">
                  <a16:creationId xmlns:a16="http://schemas.microsoft.com/office/drawing/2014/main" id="{BC6F5882-6B6E-72FE-45EA-5D713C1DC322}"/>
                </a:ext>
              </a:extLst>
            </p:cNvPr>
            <p:cNvSpPr/>
            <p:nvPr/>
          </p:nvSpPr>
          <p:spPr>
            <a:xfrm>
              <a:off x="832104" y="3840480"/>
              <a:ext cx="64008" cy="64008"/>
            </a:xfrm>
            <a:prstGeom prst="ellips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Shape 15">
              <a:extLst>
                <a:ext uri="{FF2B5EF4-FFF2-40B4-BE49-F238E27FC236}">
                  <a16:creationId xmlns:a16="http://schemas.microsoft.com/office/drawing/2014/main" id="{3C927366-C6BB-61C9-9042-C2D861B2D653}"/>
                </a:ext>
              </a:extLst>
            </p:cNvPr>
            <p:cNvSpPr/>
            <p:nvPr/>
          </p:nvSpPr>
          <p:spPr>
            <a:xfrm>
              <a:off x="886968" y="4434840"/>
              <a:ext cx="269748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36">
              <a:extLst>
                <a:ext uri="{FF2B5EF4-FFF2-40B4-BE49-F238E27FC236}">
                  <a16:creationId xmlns:a16="http://schemas.microsoft.com/office/drawing/2014/main" id="{EBE101E1-505A-55EB-01B8-92AB97D64E03}"/>
                </a:ext>
              </a:extLst>
            </p:cNvPr>
            <p:cNvSpPr/>
            <p:nvPr/>
          </p:nvSpPr>
          <p:spPr>
            <a:xfrm>
              <a:off x="896112" y="469087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80" dirty="0">
                  <a:solidFill>
                    <a:srgbClr val="64748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Activity 2 baseline split</a:t>
              </a:r>
              <a:endParaRPr lang="en-US" sz="880" dirty="0"/>
            </a:p>
          </p:txBody>
        </p:sp>
        <p:sp>
          <p:nvSpPr>
            <p:cNvPr id="60" name="Text 37">
              <a:extLst>
                <a:ext uri="{FF2B5EF4-FFF2-40B4-BE49-F238E27FC236}">
                  <a16:creationId xmlns:a16="http://schemas.microsoft.com/office/drawing/2014/main" id="{1F694DF9-1967-E21F-893F-BF7E2E89AD40}"/>
                </a:ext>
              </a:extLst>
            </p:cNvPr>
            <p:cNvSpPr/>
            <p:nvPr/>
          </p:nvSpPr>
          <p:spPr>
            <a:xfrm>
              <a:off x="896112" y="4928616"/>
              <a:ext cx="2606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33,328 train / 5,881 val / 12,630 test</a:t>
              </a:r>
              <a:endParaRPr lang="en-US" sz="105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3C350DCD-65CB-90F1-FE08-87F491BF870B}"/>
              </a:ext>
            </a:extLst>
          </p:cNvPr>
          <p:cNvGrpSpPr/>
          <p:nvPr/>
        </p:nvGrpSpPr>
        <p:grpSpPr>
          <a:xfrm>
            <a:off x="3279676" y="3211765"/>
            <a:ext cx="2626897" cy="3365652"/>
            <a:chOff x="4526280" y="1481328"/>
            <a:chExt cx="3154680" cy="4023360"/>
          </a:xfrm>
        </p:grpSpPr>
        <p:sp>
          <p:nvSpPr>
            <p:cNvPr id="62" name="Shape 16">
              <a:extLst>
                <a:ext uri="{FF2B5EF4-FFF2-40B4-BE49-F238E27FC236}">
                  <a16:creationId xmlns:a16="http://schemas.microsoft.com/office/drawing/2014/main" id="{B269065E-DD4A-F9A8-583F-57926BCB9C24}"/>
                </a:ext>
              </a:extLst>
            </p:cNvPr>
            <p:cNvSpPr/>
            <p:nvPr/>
          </p:nvSpPr>
          <p:spPr>
            <a:xfrm>
              <a:off x="4526280" y="1481328"/>
              <a:ext cx="3154680" cy="4023360"/>
            </a:xfrm>
            <a:prstGeom prst="roundRect">
              <a:avLst>
                <a:gd name="adj" fmla="val 231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 17">
              <a:extLst>
                <a:ext uri="{FF2B5EF4-FFF2-40B4-BE49-F238E27FC236}">
                  <a16:creationId xmlns:a16="http://schemas.microsoft.com/office/drawing/2014/main" id="{0877C298-F834-2179-4C8B-3F803A4ED10D}"/>
                </a:ext>
              </a:extLst>
            </p:cNvPr>
            <p:cNvSpPr/>
            <p:nvPr/>
          </p:nvSpPr>
          <p:spPr>
            <a:xfrm>
              <a:off x="4754880" y="1737360"/>
              <a:ext cx="1508760" cy="329184"/>
            </a:xfrm>
            <a:prstGeom prst="rect">
              <a:avLst/>
            </a:prstGeom>
            <a:solidFill>
              <a:srgbClr val="FEF3C7"/>
            </a:solidFill>
            <a:ln>
              <a:solidFill>
                <a:srgbClr val="FEF3C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40" b="1" dirty="0">
                  <a:solidFill>
                    <a:srgbClr val="EA580C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GTSDB</a:t>
              </a:r>
              <a:endParaRPr lang="en-US" sz="1240" dirty="0"/>
            </a:p>
          </p:txBody>
        </p:sp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2617E964-9DAB-EB61-9B42-7BC4309B348A}"/>
                </a:ext>
              </a:extLst>
            </p:cNvPr>
            <p:cNvSpPr/>
            <p:nvPr/>
          </p:nvSpPr>
          <p:spPr>
            <a:xfrm>
              <a:off x="4754880" y="2240280"/>
              <a:ext cx="2651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11827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Real-road adaptation / test</a:t>
              </a:r>
            </a:p>
          </p:txBody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4E6B5763-249D-17CB-BEB1-BADE24AF20A2}"/>
                </a:ext>
              </a:extLst>
            </p:cNvPr>
            <p:cNvSpPr/>
            <p:nvPr/>
          </p:nvSpPr>
          <p:spPr>
            <a:xfrm>
              <a:off x="4846320" y="2880360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476 crops</a:t>
              </a:r>
              <a:endParaRPr lang="en-US" sz="1350" dirty="0"/>
            </a:p>
          </p:txBody>
        </p:sp>
        <p:sp>
          <p:nvSpPr>
            <p:cNvPr id="66" name="Shape 20">
              <a:extLst>
                <a:ext uri="{FF2B5EF4-FFF2-40B4-BE49-F238E27FC236}">
                  <a16:creationId xmlns:a16="http://schemas.microsoft.com/office/drawing/2014/main" id="{762FA546-49E7-0647-9C2A-42CC1DAA7013}"/>
                </a:ext>
              </a:extLst>
            </p:cNvPr>
            <p:cNvSpPr/>
            <p:nvPr/>
          </p:nvSpPr>
          <p:spPr>
            <a:xfrm>
              <a:off x="4700016" y="2962656"/>
              <a:ext cx="64008" cy="64008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21">
              <a:extLst>
                <a:ext uri="{FF2B5EF4-FFF2-40B4-BE49-F238E27FC236}">
                  <a16:creationId xmlns:a16="http://schemas.microsoft.com/office/drawing/2014/main" id="{656671D3-6882-F460-F929-F7D11C4EB3D5}"/>
                </a:ext>
              </a:extLst>
            </p:cNvPr>
            <p:cNvSpPr/>
            <p:nvPr/>
          </p:nvSpPr>
          <p:spPr>
            <a:xfrm>
              <a:off x="4846320" y="3319272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42 classes</a:t>
              </a:r>
              <a:endParaRPr lang="en-US" sz="1350" dirty="0"/>
            </a:p>
          </p:txBody>
        </p:sp>
        <p:sp>
          <p:nvSpPr>
            <p:cNvPr id="68" name="Shape 22">
              <a:extLst>
                <a:ext uri="{FF2B5EF4-FFF2-40B4-BE49-F238E27FC236}">
                  <a16:creationId xmlns:a16="http://schemas.microsoft.com/office/drawing/2014/main" id="{79B5BB56-C1C8-242A-0E00-A71AC227CAAA}"/>
                </a:ext>
              </a:extLst>
            </p:cNvPr>
            <p:cNvSpPr/>
            <p:nvPr/>
          </p:nvSpPr>
          <p:spPr>
            <a:xfrm>
              <a:off x="4700016" y="3401568"/>
              <a:ext cx="64008" cy="64008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23">
              <a:extLst>
                <a:ext uri="{FF2B5EF4-FFF2-40B4-BE49-F238E27FC236}">
                  <a16:creationId xmlns:a16="http://schemas.microsoft.com/office/drawing/2014/main" id="{ADDC2A73-D7E8-FF89-F042-AA153964F0BC}"/>
                </a:ext>
              </a:extLst>
            </p:cNvPr>
            <p:cNvSpPr/>
            <p:nvPr/>
          </p:nvSpPr>
          <p:spPr>
            <a:xfrm>
              <a:off x="4846320" y="3758184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real-road scene</a:t>
              </a:r>
              <a:endParaRPr lang="en-US" sz="1350" dirty="0"/>
            </a:p>
          </p:txBody>
        </p:sp>
        <p:sp>
          <p:nvSpPr>
            <p:cNvPr id="70" name="Shape 24">
              <a:extLst>
                <a:ext uri="{FF2B5EF4-FFF2-40B4-BE49-F238E27FC236}">
                  <a16:creationId xmlns:a16="http://schemas.microsoft.com/office/drawing/2014/main" id="{6FF45531-87D5-F1C6-BBFB-A430D7C2531F}"/>
                </a:ext>
              </a:extLst>
            </p:cNvPr>
            <p:cNvSpPr/>
            <p:nvPr/>
          </p:nvSpPr>
          <p:spPr>
            <a:xfrm>
              <a:off x="4700016" y="3840480"/>
              <a:ext cx="64008" cy="64008"/>
            </a:xfrm>
            <a:prstGeom prst="ellipse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Shape 25">
              <a:extLst>
                <a:ext uri="{FF2B5EF4-FFF2-40B4-BE49-F238E27FC236}">
                  <a16:creationId xmlns:a16="http://schemas.microsoft.com/office/drawing/2014/main" id="{F6712C19-1D8C-5D9C-CCD4-BE0165289988}"/>
                </a:ext>
              </a:extLst>
            </p:cNvPr>
            <p:cNvSpPr/>
            <p:nvPr/>
          </p:nvSpPr>
          <p:spPr>
            <a:xfrm>
              <a:off x="4754880" y="4434840"/>
              <a:ext cx="269748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38">
              <a:extLst>
                <a:ext uri="{FF2B5EF4-FFF2-40B4-BE49-F238E27FC236}">
                  <a16:creationId xmlns:a16="http://schemas.microsoft.com/office/drawing/2014/main" id="{11A4C7F7-A8BA-A272-7F8A-6080D06BB845}"/>
                </a:ext>
              </a:extLst>
            </p:cNvPr>
            <p:cNvSpPr/>
            <p:nvPr/>
          </p:nvSpPr>
          <p:spPr>
            <a:xfrm>
              <a:off x="4754880" y="4736592"/>
              <a:ext cx="2606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Class 32 absent; extreme imbalance</a:t>
              </a:r>
              <a:endParaRPr lang="en-US" sz="105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1528611-45CC-85E4-13E2-C4BE8AF57022}"/>
              </a:ext>
            </a:extLst>
          </p:cNvPr>
          <p:cNvGrpSpPr/>
          <p:nvPr/>
        </p:nvGrpSpPr>
        <p:grpSpPr>
          <a:xfrm>
            <a:off x="6238536" y="3211765"/>
            <a:ext cx="2428475" cy="3365652"/>
            <a:chOff x="8366760" y="1481328"/>
            <a:chExt cx="3154680" cy="4023360"/>
          </a:xfrm>
        </p:grpSpPr>
        <p:sp>
          <p:nvSpPr>
            <p:cNvPr id="74" name="Shape 26">
              <a:extLst>
                <a:ext uri="{FF2B5EF4-FFF2-40B4-BE49-F238E27FC236}">
                  <a16:creationId xmlns:a16="http://schemas.microsoft.com/office/drawing/2014/main" id="{5A3E74A3-C636-5590-099B-7ED9918A95D5}"/>
                </a:ext>
              </a:extLst>
            </p:cNvPr>
            <p:cNvSpPr/>
            <p:nvPr/>
          </p:nvSpPr>
          <p:spPr>
            <a:xfrm>
              <a:off x="8366760" y="1481328"/>
              <a:ext cx="3154680" cy="4023360"/>
            </a:xfrm>
            <a:prstGeom prst="roundRect">
              <a:avLst>
                <a:gd name="adj" fmla="val 2319"/>
              </a:avLst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 27">
              <a:extLst>
                <a:ext uri="{FF2B5EF4-FFF2-40B4-BE49-F238E27FC236}">
                  <a16:creationId xmlns:a16="http://schemas.microsoft.com/office/drawing/2014/main" id="{DC1F6DE9-A318-798F-9B9D-95E8430A4019}"/>
                </a:ext>
              </a:extLst>
            </p:cNvPr>
            <p:cNvSpPr/>
            <p:nvPr/>
          </p:nvSpPr>
          <p:spPr>
            <a:xfrm>
              <a:off x="8595360" y="1737360"/>
              <a:ext cx="1508760" cy="329184"/>
            </a:xfrm>
            <a:prstGeom prst="rect">
              <a:avLst/>
            </a:prstGeom>
            <a:solidFill>
              <a:srgbClr val="EDE9FE"/>
            </a:solidFill>
            <a:ln>
              <a:solidFill>
                <a:srgbClr val="EDE9FE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40" b="1" dirty="0">
                  <a:solidFill>
                    <a:srgbClr val="7C3AED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Synset Signset</a:t>
              </a:r>
              <a:endParaRPr lang="en-US" sz="1240" dirty="0"/>
            </a:p>
          </p:txBody>
        </p:sp>
        <p:sp>
          <p:nvSpPr>
            <p:cNvPr id="76" name="Text 28">
              <a:extLst>
                <a:ext uri="{FF2B5EF4-FFF2-40B4-BE49-F238E27FC236}">
                  <a16:creationId xmlns:a16="http://schemas.microsoft.com/office/drawing/2014/main" id="{68A7D015-1D96-D274-C731-5AAAC52D7AC2}"/>
                </a:ext>
              </a:extLst>
            </p:cNvPr>
            <p:cNvSpPr/>
            <p:nvPr/>
          </p:nvSpPr>
          <p:spPr>
            <a:xfrm>
              <a:off x="8595360" y="2240280"/>
              <a:ext cx="26517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11827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Synthetic-domain validation</a:t>
              </a:r>
            </a:p>
          </p:txBody>
        </p:sp>
        <p:sp>
          <p:nvSpPr>
            <p:cNvPr id="77" name="Text 29">
              <a:extLst>
                <a:ext uri="{FF2B5EF4-FFF2-40B4-BE49-F238E27FC236}">
                  <a16:creationId xmlns:a16="http://schemas.microsoft.com/office/drawing/2014/main" id="{4D4F29B5-21C1-CB53-8A33-DA33E9F0289F}"/>
                </a:ext>
              </a:extLst>
            </p:cNvPr>
            <p:cNvSpPr/>
            <p:nvPr/>
          </p:nvSpPr>
          <p:spPr>
            <a:xfrm>
              <a:off x="8686800" y="2880360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4,300 used</a:t>
              </a:r>
              <a:endParaRPr lang="en-US" sz="1350" dirty="0"/>
            </a:p>
          </p:txBody>
        </p:sp>
        <p:sp>
          <p:nvSpPr>
            <p:cNvPr id="78" name="Shape 30">
              <a:extLst>
                <a:ext uri="{FF2B5EF4-FFF2-40B4-BE49-F238E27FC236}">
                  <a16:creationId xmlns:a16="http://schemas.microsoft.com/office/drawing/2014/main" id="{8B8FC7C6-23CC-E0C8-E12B-1267A4D2477E}"/>
                </a:ext>
              </a:extLst>
            </p:cNvPr>
            <p:cNvSpPr/>
            <p:nvPr/>
          </p:nvSpPr>
          <p:spPr>
            <a:xfrm>
              <a:off x="8540496" y="2962656"/>
              <a:ext cx="64008" cy="640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31">
              <a:extLst>
                <a:ext uri="{FF2B5EF4-FFF2-40B4-BE49-F238E27FC236}">
                  <a16:creationId xmlns:a16="http://schemas.microsoft.com/office/drawing/2014/main" id="{7988E1E5-47ED-865A-F647-BB9B1DFF707F}"/>
                </a:ext>
              </a:extLst>
            </p:cNvPr>
            <p:cNvSpPr/>
            <p:nvPr/>
          </p:nvSpPr>
          <p:spPr>
            <a:xfrm>
              <a:off x="8686800" y="3319272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43 of 211 classes</a:t>
              </a:r>
              <a:endParaRPr lang="en-US" sz="1350" dirty="0"/>
            </a:p>
          </p:txBody>
        </p:sp>
        <p:sp>
          <p:nvSpPr>
            <p:cNvPr id="80" name="Shape 32">
              <a:extLst>
                <a:ext uri="{FF2B5EF4-FFF2-40B4-BE49-F238E27FC236}">
                  <a16:creationId xmlns:a16="http://schemas.microsoft.com/office/drawing/2014/main" id="{A2B23F80-5D2C-0DE5-2B1B-095BD0701E35}"/>
                </a:ext>
              </a:extLst>
            </p:cNvPr>
            <p:cNvSpPr/>
            <p:nvPr/>
          </p:nvSpPr>
          <p:spPr>
            <a:xfrm>
              <a:off x="8540496" y="3401568"/>
              <a:ext cx="64008" cy="640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 33">
              <a:extLst>
                <a:ext uri="{FF2B5EF4-FFF2-40B4-BE49-F238E27FC236}">
                  <a16:creationId xmlns:a16="http://schemas.microsoft.com/office/drawing/2014/main" id="{6C96928B-873A-1484-D7A1-639A87AA9794}"/>
                </a:ext>
              </a:extLst>
            </p:cNvPr>
            <p:cNvSpPr/>
            <p:nvPr/>
          </p:nvSpPr>
          <p:spPr>
            <a:xfrm>
              <a:off x="8686800" y="3758184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synthetic domain</a:t>
              </a:r>
              <a:endParaRPr lang="en-US" sz="1350" dirty="0"/>
            </a:p>
          </p:txBody>
        </p:sp>
        <p:sp>
          <p:nvSpPr>
            <p:cNvPr id="82" name="Shape 34">
              <a:extLst>
                <a:ext uri="{FF2B5EF4-FFF2-40B4-BE49-F238E27FC236}">
                  <a16:creationId xmlns:a16="http://schemas.microsoft.com/office/drawing/2014/main" id="{5282E6D0-ED2A-D3C9-892A-4948B9F0E1DF}"/>
                </a:ext>
              </a:extLst>
            </p:cNvPr>
            <p:cNvSpPr/>
            <p:nvPr/>
          </p:nvSpPr>
          <p:spPr>
            <a:xfrm>
              <a:off x="8540496" y="3840480"/>
              <a:ext cx="64008" cy="6400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Shape 35">
              <a:extLst>
                <a:ext uri="{FF2B5EF4-FFF2-40B4-BE49-F238E27FC236}">
                  <a16:creationId xmlns:a16="http://schemas.microsoft.com/office/drawing/2014/main" id="{DBB66D5C-CA55-691E-D163-DC5A1ECC6529}"/>
                </a:ext>
              </a:extLst>
            </p:cNvPr>
            <p:cNvSpPr/>
            <p:nvPr/>
          </p:nvSpPr>
          <p:spPr>
            <a:xfrm>
              <a:off x="8595360" y="4434840"/>
              <a:ext cx="2697480" cy="0"/>
            </a:xfrm>
            <a:prstGeom prst="line">
              <a:avLst/>
            </a:prstGeom>
            <a:noFill/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 39">
              <a:extLst>
                <a:ext uri="{FF2B5EF4-FFF2-40B4-BE49-F238E27FC236}">
                  <a16:creationId xmlns:a16="http://schemas.microsoft.com/office/drawing/2014/main" id="{0871797B-2BE8-1764-F067-649F4D07AB50}"/>
                </a:ext>
              </a:extLst>
            </p:cNvPr>
            <p:cNvSpPr/>
            <p:nvPr/>
          </p:nvSpPr>
          <p:spPr>
            <a:xfrm>
              <a:off x="8595360" y="4736592"/>
              <a:ext cx="2606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Use labels 0–42 only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871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B3C6-64C7-4A99-39EB-8FA885B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3E319DC-BC0F-D8D7-32C5-C7209572103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5DF3FB-A2B7-7D83-807E-A60016C4C5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Dataset Explanation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D89792-57D7-BAC8-AB13-3049592E2541}"/>
              </a:ext>
            </a:extLst>
          </p:cNvPr>
          <p:cNvSpPr txBox="1"/>
          <p:nvPr/>
        </p:nvSpPr>
        <p:spPr>
          <a:xfrm>
            <a:off x="406376" y="1019953"/>
            <a:ext cx="8130405" cy="4293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Why GTSRB fits the assignment requirements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Public dataset: Available online and suitable for course use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Labeled images: Each image has a </a:t>
            </a: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ClassId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traffic sign label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At least 20 classes: 43 classes, exceeding the requirement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Enough scale: 51,839 images support CNN training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Non trivial task: Similar signs, imbalance, small/blurred images</a:t>
            </a:r>
            <a:b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</a:b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Application relevance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Traffic sign recognition is directly connected to driver assistance and autonomous driving. This makes the classification task meaningful beyond a toy dataset.</a:t>
            </a:r>
          </a:p>
        </p:txBody>
      </p:sp>
    </p:spTree>
    <p:extLst>
      <p:ext uri="{BB962C8B-B14F-4D97-AF65-F5344CB8AC3E}">
        <p14:creationId xmlns:p14="http://schemas.microsoft.com/office/powerpoint/2010/main" val="1147744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71E8-4F0B-1FAB-DAF2-F18DFEEB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B0FBBB-FD45-A24C-C23D-F652FBE2DF1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904797-320E-B0D5-9232-FFD4B9C1BA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First Model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884AF6-C9CC-7248-D690-C9057ED3FD4C}"/>
              </a:ext>
            </a:extLst>
          </p:cNvPr>
          <p:cNvSpPr txBox="1"/>
          <p:nvPr/>
        </p:nvSpPr>
        <p:spPr>
          <a:xfrm>
            <a:off x="406376" y="1019953"/>
            <a:ext cx="8130405" cy="1985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Strong Baseline, to General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model successfully learned traffic-sign visual features. However, the validation-to-test gap suggests that generalization can still be improved through better augmentation, imbalance handling, or stronger architectures.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3F8CB53-CD6F-0DDA-FBF8-F95A58089CBD}"/>
              </a:ext>
            </a:extLst>
          </p:cNvPr>
          <p:cNvGrpSpPr/>
          <p:nvPr/>
        </p:nvGrpSpPr>
        <p:grpSpPr>
          <a:xfrm>
            <a:off x="301198" y="3233134"/>
            <a:ext cx="4206240" cy="3072384"/>
            <a:chOff x="749808" y="1755648"/>
            <a:chExt cx="4206240" cy="3072384"/>
          </a:xfrm>
        </p:grpSpPr>
        <p:sp>
          <p:nvSpPr>
            <p:cNvPr id="3" name="Shape 5">
              <a:extLst>
                <a:ext uri="{FF2B5EF4-FFF2-40B4-BE49-F238E27FC236}">
                  <a16:creationId xmlns:a16="http://schemas.microsoft.com/office/drawing/2014/main" id="{EB867472-363C-BAEE-26B0-AFC927BD2DCD}"/>
                </a:ext>
              </a:extLst>
            </p:cNvPr>
            <p:cNvSpPr/>
            <p:nvPr/>
          </p:nvSpPr>
          <p:spPr>
            <a:xfrm>
              <a:off x="749808" y="1755648"/>
              <a:ext cx="4206240" cy="438912"/>
            </a:xfrm>
            <a:prstGeom prst="rect">
              <a:avLst/>
            </a:prstGeom>
            <a:solidFill>
              <a:srgbClr val="0F172A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FBDF8D90-DEE9-82EE-E050-2668C78BE645}"/>
                </a:ext>
              </a:extLst>
            </p:cNvPr>
            <p:cNvSpPr/>
            <p:nvPr/>
          </p:nvSpPr>
          <p:spPr>
            <a:xfrm>
              <a:off x="2807208" y="1755648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66FFAC03-D55A-EEFA-D5BF-D22E85EAE27C}"/>
                </a:ext>
              </a:extLst>
            </p:cNvPr>
            <p:cNvSpPr/>
            <p:nvPr/>
          </p:nvSpPr>
          <p:spPr>
            <a:xfrm>
              <a:off x="859536" y="1819656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Metric</a:t>
              </a:r>
              <a:endParaRPr lang="en-US" sz="1250" dirty="0"/>
            </a:p>
          </p:txBody>
        </p:sp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12E64497-57BA-9484-EE0E-CA388BE43368}"/>
                </a:ext>
              </a:extLst>
            </p:cNvPr>
            <p:cNvSpPr/>
            <p:nvPr/>
          </p:nvSpPr>
          <p:spPr>
            <a:xfrm>
              <a:off x="2916936" y="1819656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Value</a:t>
              </a:r>
              <a:endParaRPr lang="en-US" sz="1250" dirty="0"/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DDA522F8-455F-7BCB-B526-8006B6CA0027}"/>
                </a:ext>
              </a:extLst>
            </p:cNvPr>
            <p:cNvSpPr/>
            <p:nvPr/>
          </p:nvSpPr>
          <p:spPr>
            <a:xfrm>
              <a:off x="749808" y="2194560"/>
              <a:ext cx="4206240" cy="438912"/>
            </a:xfrm>
            <a:prstGeom prst="rect">
              <a:avLst/>
            </a:prstGeom>
            <a:solidFill>
              <a:srgbClr val="F1F5F9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10">
              <a:extLst>
                <a:ext uri="{FF2B5EF4-FFF2-40B4-BE49-F238E27FC236}">
                  <a16:creationId xmlns:a16="http://schemas.microsoft.com/office/drawing/2014/main" id="{41B28710-42C1-1AE1-EDA3-7FF7CA91A7B0}"/>
                </a:ext>
              </a:extLst>
            </p:cNvPr>
            <p:cNvSpPr/>
            <p:nvPr/>
          </p:nvSpPr>
          <p:spPr>
            <a:xfrm>
              <a:off x="2807208" y="2194560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11">
              <a:extLst>
                <a:ext uri="{FF2B5EF4-FFF2-40B4-BE49-F238E27FC236}">
                  <a16:creationId xmlns:a16="http://schemas.microsoft.com/office/drawing/2014/main" id="{275D9B70-CE67-3ACE-FEE8-513C191C3630}"/>
                </a:ext>
              </a:extLst>
            </p:cNvPr>
            <p:cNvSpPr/>
            <p:nvPr/>
          </p:nvSpPr>
          <p:spPr>
            <a:xfrm>
              <a:off x="859536" y="2258568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Train Loss</a:t>
              </a:r>
              <a:endParaRPr lang="en-US" sz="1250" dirty="0"/>
            </a:p>
          </p:txBody>
        </p:sp>
        <p:sp>
          <p:nvSpPr>
            <p:cNvPr id="12" name="Text 12">
              <a:extLst>
                <a:ext uri="{FF2B5EF4-FFF2-40B4-BE49-F238E27FC236}">
                  <a16:creationId xmlns:a16="http://schemas.microsoft.com/office/drawing/2014/main" id="{8BEFB00D-9228-890C-A946-0C9029DAA2B4}"/>
                </a:ext>
              </a:extLst>
            </p:cNvPr>
            <p:cNvSpPr/>
            <p:nvPr/>
          </p:nvSpPr>
          <p:spPr>
            <a:xfrm>
              <a:off x="2916936" y="225856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0.1708</a:t>
              </a:r>
              <a:endParaRPr lang="en-US" sz="1250" dirty="0"/>
            </a:p>
          </p:txBody>
        </p:sp>
        <p:sp>
          <p:nvSpPr>
            <p:cNvPr id="13" name="Shape 13">
              <a:extLst>
                <a:ext uri="{FF2B5EF4-FFF2-40B4-BE49-F238E27FC236}">
                  <a16:creationId xmlns:a16="http://schemas.microsoft.com/office/drawing/2014/main" id="{82A7D6EE-4990-3640-61B2-DE46CD39B92B}"/>
                </a:ext>
              </a:extLst>
            </p:cNvPr>
            <p:cNvSpPr/>
            <p:nvPr/>
          </p:nvSpPr>
          <p:spPr>
            <a:xfrm>
              <a:off x="749808" y="2633472"/>
              <a:ext cx="4206240" cy="43891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4">
              <a:extLst>
                <a:ext uri="{FF2B5EF4-FFF2-40B4-BE49-F238E27FC236}">
                  <a16:creationId xmlns:a16="http://schemas.microsoft.com/office/drawing/2014/main" id="{6BB1363E-E0C6-1B97-3160-2FC5BB2EE84E}"/>
                </a:ext>
              </a:extLst>
            </p:cNvPr>
            <p:cNvSpPr/>
            <p:nvPr/>
          </p:nvSpPr>
          <p:spPr>
            <a:xfrm>
              <a:off x="2807208" y="2633472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5">
              <a:extLst>
                <a:ext uri="{FF2B5EF4-FFF2-40B4-BE49-F238E27FC236}">
                  <a16:creationId xmlns:a16="http://schemas.microsoft.com/office/drawing/2014/main" id="{574AB272-0E66-171B-58F6-D9651D7DB098}"/>
                </a:ext>
              </a:extLst>
            </p:cNvPr>
            <p:cNvSpPr/>
            <p:nvPr/>
          </p:nvSpPr>
          <p:spPr>
            <a:xfrm>
              <a:off x="859536" y="2697480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Train Accuracy</a:t>
              </a:r>
              <a:endParaRPr lang="en-US" sz="125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7EA57BB0-E7C9-D578-F442-212215D675D6}"/>
                </a:ext>
              </a:extLst>
            </p:cNvPr>
            <p:cNvSpPr/>
            <p:nvPr/>
          </p:nvSpPr>
          <p:spPr>
            <a:xfrm>
              <a:off x="2916936" y="2697480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93.83%</a:t>
              </a:r>
              <a:endParaRPr lang="en-US" sz="1250" dirty="0"/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7315B8B3-3191-44B5-C7A6-ABF1FB1324EC}"/>
                </a:ext>
              </a:extLst>
            </p:cNvPr>
            <p:cNvSpPr/>
            <p:nvPr/>
          </p:nvSpPr>
          <p:spPr>
            <a:xfrm>
              <a:off x="749808" y="3072384"/>
              <a:ext cx="4206240" cy="438912"/>
            </a:xfrm>
            <a:prstGeom prst="rect">
              <a:avLst/>
            </a:prstGeom>
            <a:solidFill>
              <a:srgbClr val="F1F5F9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F3802D12-86F5-169A-8297-8C9C9959D77D}"/>
                </a:ext>
              </a:extLst>
            </p:cNvPr>
            <p:cNvSpPr/>
            <p:nvPr/>
          </p:nvSpPr>
          <p:spPr>
            <a:xfrm>
              <a:off x="2807208" y="3072384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4F39A503-06C4-D185-8C01-E30AF082F4F7}"/>
                </a:ext>
              </a:extLst>
            </p:cNvPr>
            <p:cNvSpPr/>
            <p:nvPr/>
          </p:nvSpPr>
          <p:spPr>
            <a:xfrm>
              <a:off x="859536" y="3136392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Validation Loss</a:t>
              </a:r>
              <a:endParaRPr lang="en-US" sz="125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FACC04E8-2F2A-7DBB-3F42-D6432EB19FAC}"/>
                </a:ext>
              </a:extLst>
            </p:cNvPr>
            <p:cNvSpPr/>
            <p:nvPr/>
          </p:nvSpPr>
          <p:spPr>
            <a:xfrm>
              <a:off x="2916936" y="3136392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0.1523</a:t>
              </a:r>
              <a:endParaRPr lang="en-US" sz="1250" dirty="0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A50B2955-A257-6453-4879-E37A90E30704}"/>
                </a:ext>
              </a:extLst>
            </p:cNvPr>
            <p:cNvSpPr/>
            <p:nvPr/>
          </p:nvSpPr>
          <p:spPr>
            <a:xfrm>
              <a:off x="749808" y="3511296"/>
              <a:ext cx="4206240" cy="43891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2">
              <a:extLst>
                <a:ext uri="{FF2B5EF4-FFF2-40B4-BE49-F238E27FC236}">
                  <a16:creationId xmlns:a16="http://schemas.microsoft.com/office/drawing/2014/main" id="{6885C51E-26FC-11F2-1945-CB6B271B48DD}"/>
                </a:ext>
              </a:extLst>
            </p:cNvPr>
            <p:cNvSpPr/>
            <p:nvPr/>
          </p:nvSpPr>
          <p:spPr>
            <a:xfrm>
              <a:off x="2807208" y="3511296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B48FA84A-35B4-A92A-FAC9-4F6997CF92CA}"/>
                </a:ext>
              </a:extLst>
            </p:cNvPr>
            <p:cNvSpPr/>
            <p:nvPr/>
          </p:nvSpPr>
          <p:spPr>
            <a:xfrm>
              <a:off x="859536" y="3575304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Validation Accuracy</a:t>
              </a:r>
              <a:endParaRPr lang="en-US" sz="1250" dirty="0"/>
            </a:p>
          </p:txBody>
        </p:sp>
        <p:sp>
          <p:nvSpPr>
            <p:cNvPr id="25" name="Text 24">
              <a:extLst>
                <a:ext uri="{FF2B5EF4-FFF2-40B4-BE49-F238E27FC236}">
                  <a16:creationId xmlns:a16="http://schemas.microsoft.com/office/drawing/2014/main" id="{F2FEE500-B90B-54F3-8F59-99C85AC8F543}"/>
                </a:ext>
              </a:extLst>
            </p:cNvPr>
            <p:cNvSpPr/>
            <p:nvPr/>
          </p:nvSpPr>
          <p:spPr>
            <a:xfrm>
              <a:off x="2916936" y="3575304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94.90%</a:t>
              </a:r>
              <a:endParaRPr lang="en-US" sz="1250" dirty="0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840E4EC5-32E0-7C25-6942-5FD9A450F1F3}"/>
                </a:ext>
              </a:extLst>
            </p:cNvPr>
            <p:cNvSpPr/>
            <p:nvPr/>
          </p:nvSpPr>
          <p:spPr>
            <a:xfrm>
              <a:off x="749808" y="3950208"/>
              <a:ext cx="4206240" cy="438912"/>
            </a:xfrm>
            <a:prstGeom prst="rect">
              <a:avLst/>
            </a:prstGeom>
            <a:solidFill>
              <a:srgbClr val="F1F5F9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6">
              <a:extLst>
                <a:ext uri="{FF2B5EF4-FFF2-40B4-BE49-F238E27FC236}">
                  <a16:creationId xmlns:a16="http://schemas.microsoft.com/office/drawing/2014/main" id="{DF652C65-3F06-B57A-C8F0-630B60BFE271}"/>
                </a:ext>
              </a:extLst>
            </p:cNvPr>
            <p:cNvSpPr/>
            <p:nvPr/>
          </p:nvSpPr>
          <p:spPr>
            <a:xfrm>
              <a:off x="2807208" y="3950208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7DB0C559-2CA8-3185-FA00-0CBF994B01C1}"/>
                </a:ext>
              </a:extLst>
            </p:cNvPr>
            <p:cNvSpPr/>
            <p:nvPr/>
          </p:nvSpPr>
          <p:spPr>
            <a:xfrm>
              <a:off x="859536" y="4014216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Test Loss</a:t>
              </a:r>
              <a:endParaRPr lang="en-US" sz="125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285A0662-F778-AC00-D698-4DC8A26519B4}"/>
                </a:ext>
              </a:extLst>
            </p:cNvPr>
            <p:cNvSpPr/>
            <p:nvPr/>
          </p:nvSpPr>
          <p:spPr>
            <a:xfrm>
              <a:off x="2916936" y="4014216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0.3483</a:t>
              </a:r>
              <a:endParaRPr lang="en-US" sz="1250" dirty="0"/>
            </a:p>
          </p:txBody>
        </p:sp>
        <p:sp>
          <p:nvSpPr>
            <p:cNvPr id="30" name="Shape 29">
              <a:extLst>
                <a:ext uri="{FF2B5EF4-FFF2-40B4-BE49-F238E27FC236}">
                  <a16:creationId xmlns:a16="http://schemas.microsoft.com/office/drawing/2014/main" id="{D7CED122-4326-2CCE-3F1C-D2B01DB3695A}"/>
                </a:ext>
              </a:extLst>
            </p:cNvPr>
            <p:cNvSpPr/>
            <p:nvPr/>
          </p:nvSpPr>
          <p:spPr>
            <a:xfrm>
              <a:off x="749808" y="4389120"/>
              <a:ext cx="4206240" cy="43891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30">
              <a:extLst>
                <a:ext uri="{FF2B5EF4-FFF2-40B4-BE49-F238E27FC236}">
                  <a16:creationId xmlns:a16="http://schemas.microsoft.com/office/drawing/2014/main" id="{0F987361-1E82-C8F8-D668-82550AC2DD44}"/>
                </a:ext>
              </a:extLst>
            </p:cNvPr>
            <p:cNvSpPr/>
            <p:nvPr/>
          </p:nvSpPr>
          <p:spPr>
            <a:xfrm>
              <a:off x="2807208" y="4389120"/>
              <a:ext cx="0" cy="438912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CA2C9D48-933A-6C4D-5EA7-56F40B66F245}"/>
                </a:ext>
              </a:extLst>
            </p:cNvPr>
            <p:cNvSpPr/>
            <p:nvPr/>
          </p:nvSpPr>
          <p:spPr>
            <a:xfrm>
              <a:off x="859536" y="4453128"/>
              <a:ext cx="1874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Test Accuracy</a:t>
              </a:r>
              <a:endParaRPr lang="en-US" sz="1250" dirty="0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E661A992-370B-FF6A-FE1D-D71C3C4186B5}"/>
                </a:ext>
              </a:extLst>
            </p:cNvPr>
            <p:cNvSpPr/>
            <p:nvPr/>
          </p:nvSpPr>
          <p:spPr>
            <a:xfrm>
              <a:off x="2916936" y="445312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89.46%</a:t>
              </a:r>
              <a:endParaRPr lang="en-US" sz="125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2997570-D1D4-F3ED-067B-D5230441E1A7}"/>
              </a:ext>
            </a:extLst>
          </p:cNvPr>
          <p:cNvGrpSpPr/>
          <p:nvPr/>
        </p:nvGrpSpPr>
        <p:grpSpPr>
          <a:xfrm>
            <a:off x="4725913" y="3429000"/>
            <a:ext cx="4206241" cy="2732758"/>
            <a:chOff x="5440680" y="1417320"/>
            <a:chExt cx="5257800" cy="3849624"/>
          </a:xfrm>
        </p:grpSpPr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F2436BE7-9830-9756-7BB1-7544700639AA}"/>
                </a:ext>
              </a:extLst>
            </p:cNvPr>
            <p:cNvSpPr/>
            <p:nvPr/>
          </p:nvSpPr>
          <p:spPr>
            <a:xfrm>
              <a:off x="5806440" y="4846320"/>
              <a:ext cx="4892040" cy="0"/>
            </a:xfrm>
            <a:prstGeom prst="line">
              <a:avLst/>
            </a:prstGeom>
            <a:noFill/>
            <a:ln w="1397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4C1428B2-A728-A97E-60F0-EDD08D054E88}"/>
                </a:ext>
              </a:extLst>
            </p:cNvPr>
            <p:cNvSpPr/>
            <p:nvPr/>
          </p:nvSpPr>
          <p:spPr>
            <a:xfrm>
              <a:off x="5806440" y="1874520"/>
              <a:ext cx="0" cy="2971800"/>
            </a:xfrm>
            <a:prstGeom prst="line">
              <a:avLst/>
            </a:prstGeom>
            <a:noFill/>
            <a:ln w="1397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2CDDC9CC-4D4C-2814-0181-488D804AB90C}"/>
                </a:ext>
              </a:extLst>
            </p:cNvPr>
            <p:cNvSpPr/>
            <p:nvPr/>
          </p:nvSpPr>
          <p:spPr>
            <a:xfrm>
              <a:off x="5806440" y="4846320"/>
              <a:ext cx="4892040" cy="0"/>
            </a:xfrm>
            <a:prstGeom prst="line">
              <a:avLst/>
            </a:prstGeom>
            <a:noFill/>
            <a:ln w="6350">
              <a:solidFill>
                <a:srgbClr val="CBD5E1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4AFC978E-87A3-58ED-F586-07F982420852}"/>
                </a:ext>
              </a:extLst>
            </p:cNvPr>
            <p:cNvSpPr/>
            <p:nvPr/>
          </p:nvSpPr>
          <p:spPr>
            <a:xfrm>
              <a:off x="5440680" y="4773168"/>
              <a:ext cx="274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4748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</a:t>
              </a:r>
              <a:endParaRPr lang="en-US" sz="750" dirty="0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584CEBA0-6932-D4F3-29A8-504264783261}"/>
                </a:ext>
              </a:extLst>
            </p:cNvPr>
            <p:cNvSpPr/>
            <p:nvPr/>
          </p:nvSpPr>
          <p:spPr>
            <a:xfrm>
              <a:off x="5806440" y="3360420"/>
              <a:ext cx="4892040" cy="0"/>
            </a:xfrm>
            <a:prstGeom prst="line">
              <a:avLst/>
            </a:prstGeom>
            <a:noFill/>
            <a:ln w="6350">
              <a:solidFill>
                <a:srgbClr val="CBD5E1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D7343DF0-E4D8-BF40-280C-3B3BAB9A064B}"/>
                </a:ext>
              </a:extLst>
            </p:cNvPr>
            <p:cNvSpPr/>
            <p:nvPr/>
          </p:nvSpPr>
          <p:spPr>
            <a:xfrm>
              <a:off x="5440680" y="3287268"/>
              <a:ext cx="274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4748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50</a:t>
              </a:r>
              <a:endParaRPr lang="en-US" sz="750" dirty="0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AB9C2D5B-0E38-3431-2319-BA710E4DEC04}"/>
                </a:ext>
              </a:extLst>
            </p:cNvPr>
            <p:cNvSpPr/>
            <p:nvPr/>
          </p:nvSpPr>
          <p:spPr>
            <a:xfrm>
              <a:off x="5806440" y="1874520"/>
              <a:ext cx="4892040" cy="0"/>
            </a:xfrm>
            <a:prstGeom prst="line">
              <a:avLst/>
            </a:prstGeom>
            <a:noFill/>
            <a:ln w="6350">
              <a:solidFill>
                <a:srgbClr val="CBD5E1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D2ABD5B0-1B61-9105-40B5-7328727BE310}"/>
                </a:ext>
              </a:extLst>
            </p:cNvPr>
            <p:cNvSpPr/>
            <p:nvPr/>
          </p:nvSpPr>
          <p:spPr>
            <a:xfrm>
              <a:off x="5440680" y="1801368"/>
              <a:ext cx="274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4748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100</a:t>
              </a:r>
              <a:endParaRPr lang="en-US" sz="750" dirty="0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39ABB04E-6F7A-C4CD-6750-E20A9357FB0B}"/>
                </a:ext>
              </a:extLst>
            </p:cNvPr>
            <p:cNvSpPr/>
            <p:nvPr/>
          </p:nvSpPr>
          <p:spPr>
            <a:xfrm>
              <a:off x="6099962" y="2057880"/>
              <a:ext cx="164592" cy="27884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5A856769-F0AA-943A-18AC-E33C3F7D83D3}"/>
                </a:ext>
              </a:extLst>
            </p:cNvPr>
            <p:cNvSpPr/>
            <p:nvPr/>
          </p:nvSpPr>
          <p:spPr>
            <a:xfrm>
              <a:off x="5806440" y="4956048"/>
              <a:ext cx="16306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Train</a:t>
              </a:r>
              <a:endParaRPr lang="en-US" sz="1100" dirty="0"/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4C63257F-4891-0013-A893-B6646A4897F3}"/>
                </a:ext>
              </a:extLst>
            </p:cNvPr>
            <p:cNvSpPr/>
            <p:nvPr/>
          </p:nvSpPr>
          <p:spPr>
            <a:xfrm>
              <a:off x="7730642" y="2026082"/>
              <a:ext cx="164592" cy="2820238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F580A6A4-7249-3E69-51A6-496D72255347}"/>
                </a:ext>
              </a:extLst>
            </p:cNvPr>
            <p:cNvSpPr/>
            <p:nvPr/>
          </p:nvSpPr>
          <p:spPr>
            <a:xfrm>
              <a:off x="7437120" y="4956048"/>
              <a:ext cx="16306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Validation</a:t>
              </a:r>
              <a:endParaRPr lang="en-US" sz="1100" dirty="0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E40D7AD6-881B-1D75-BDE1-D24142F75E1F}"/>
                </a:ext>
              </a:extLst>
            </p:cNvPr>
            <p:cNvSpPr/>
            <p:nvPr/>
          </p:nvSpPr>
          <p:spPr>
            <a:xfrm>
              <a:off x="9361322" y="2187748"/>
              <a:ext cx="164592" cy="265857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F91897E1-0895-9E4F-5148-1E98731158D1}"/>
                </a:ext>
              </a:extLst>
            </p:cNvPr>
            <p:cNvSpPr/>
            <p:nvPr/>
          </p:nvSpPr>
          <p:spPr>
            <a:xfrm>
              <a:off x="9067800" y="4956048"/>
              <a:ext cx="16306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Test</a:t>
              </a:r>
              <a:endParaRPr lang="en-US" sz="11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DF919A03-69EA-8808-2FEC-36C71FCD7D51}"/>
                </a:ext>
              </a:extLst>
            </p:cNvPr>
            <p:cNvSpPr/>
            <p:nvPr/>
          </p:nvSpPr>
          <p:spPr>
            <a:xfrm>
              <a:off x="9674352" y="1527048"/>
              <a:ext cx="146304" cy="146304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647A1D4B-63D5-350D-DADB-F1E4E798DA4C}"/>
                </a:ext>
              </a:extLst>
            </p:cNvPr>
            <p:cNvSpPr/>
            <p:nvPr/>
          </p:nvSpPr>
          <p:spPr>
            <a:xfrm>
              <a:off x="9875520" y="1490472"/>
              <a:ext cx="78638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Accuracy</a:t>
              </a:r>
              <a:endParaRPr lang="en-US" sz="82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7166F062-20BE-993E-BADF-CF28CB2919FA}"/>
                </a:ext>
              </a:extLst>
            </p:cNvPr>
            <p:cNvSpPr/>
            <p:nvPr/>
          </p:nvSpPr>
          <p:spPr>
            <a:xfrm>
              <a:off x="5806440" y="141732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Accuracy (%)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616835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AAA20-9203-9ECE-B977-A4DF1E8B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BE3A363-1E7E-09AB-1A13-38686767346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03FDB1-B9E1-11E6-2E5B-E5F90C9B4D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First Model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EBB30-529E-2155-72B7-570D2FCD290C}"/>
              </a:ext>
            </a:extLst>
          </p:cNvPr>
          <p:cNvSpPr txBox="1"/>
          <p:nvPr/>
        </p:nvSpPr>
        <p:spPr>
          <a:xfrm>
            <a:off x="406376" y="1019953"/>
            <a:ext cx="8130405" cy="1985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Strong Baseline, to General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model successfully learned traffic-sign visual features. However, the validation-to-test gap suggests that generalization can still be improved through better augmentation, imbalance handling, or stronger architectures.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B96AD2A-4224-C713-F9EB-F483612F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90799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3FE2-E22B-5B99-733E-D234FA96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D464CE5-81BF-5913-DCF3-92444DC2D08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C4B7A9-F4BF-81C4-C34F-488D282874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implementation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- Two models Used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BE8AFB-E12B-973B-3897-299B19878878}"/>
              </a:ext>
            </a:extLst>
          </p:cNvPr>
          <p:cNvSpPr txBox="1"/>
          <p:nvPr/>
        </p:nvSpPr>
        <p:spPr>
          <a:xfrm>
            <a:off x="406376" y="1019953"/>
            <a:ext cx="8130405" cy="4293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Custom Baseline CNN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Implemented directly for the assignment baseline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Simple enough to interpret and debug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Provides a reference point for later improvements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Later code pipeline achieved 96.9% on GTSRB and 4.2% on GTSDB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EfficientNet-B0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ImageNet-pretrained weights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classifier changed to 43 traffic-sign classes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Full fine-tuning for the traffic-sign domain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Used for robust, mixed, final, and </a:t>
            </a: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SynsetMix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experiments</a:t>
            </a:r>
          </a:p>
        </p:txBody>
      </p:sp>
    </p:spTree>
    <p:extLst>
      <p:ext uri="{BB962C8B-B14F-4D97-AF65-F5344CB8AC3E}">
        <p14:creationId xmlns:p14="http://schemas.microsoft.com/office/powerpoint/2010/main" val="160185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89FC5-161D-06B1-4B52-F8F6AD25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9B864E8-BFAD-4702-4A9F-AB6D5C194D2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043F1B-DF9B-F3BC-D9D3-6C6EFAD528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implementation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- Two models Used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9476EF-3098-11B4-A933-21B0D518E673}"/>
              </a:ext>
            </a:extLst>
          </p:cNvPr>
          <p:cNvSpPr txBox="1"/>
          <p:nvPr/>
        </p:nvSpPr>
        <p:spPr>
          <a:xfrm>
            <a:off x="406376" y="1019953"/>
            <a:ext cx="8130405" cy="409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Code Modules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config.py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dataset.py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models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train.py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evaluate.py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demo.py</a:t>
            </a:r>
          </a:p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modular structure supports reproducibility: the same data loaders, training loop, and evaluation functions are reused across experiments.</a:t>
            </a:r>
          </a:p>
        </p:txBody>
      </p:sp>
    </p:spTree>
    <p:extLst>
      <p:ext uri="{BB962C8B-B14F-4D97-AF65-F5344CB8AC3E}">
        <p14:creationId xmlns:p14="http://schemas.microsoft.com/office/powerpoint/2010/main" val="18485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E951C-532D-AA65-749E-1D9F230C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12DD83-CF78-CCEC-6700-84558557677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45F602-DDFB-2F4B-1921-FA83549AB6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Experiment design</a:t>
            </a:r>
          </a:p>
        </p:txBody>
      </p:sp>
      <p:pic>
        <p:nvPicPr>
          <p:cNvPr id="155" name="그림 154">
            <a:extLst>
              <a:ext uri="{FF2B5EF4-FFF2-40B4-BE49-F238E27FC236}">
                <a16:creationId xmlns:a16="http://schemas.microsoft.com/office/drawing/2014/main" id="{91B48CF1-8F19-2241-C22B-36E18F8A4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5461"/>
            <a:ext cx="9144000" cy="350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10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70E4-6A45-D272-4359-9367C77F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45463D-0307-CC56-A354-5DCDE15A83A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185BC7-8100-02F2-A782-D02662C458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 Only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0386A5-8AC6-2B84-5D49-44FC34148A82}"/>
              </a:ext>
            </a:extLst>
          </p:cNvPr>
          <p:cNvSpPr txBox="1"/>
          <p:nvPr/>
        </p:nvSpPr>
        <p:spPr>
          <a:xfrm>
            <a:off x="406376" y="1019953"/>
            <a:ext cx="8130405" cy="1985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High in-domain accuracy, Poor external accuracy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A stronger architecture alone did not solve the real-road domain shift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Excellent accuracy on clean cropped signs does not guarantee real-road performance. The model learned useful traffic-sign features, but it also depended strongly on the GTSRB data distribution.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9E241F6-879B-3D25-2AE3-06DB07702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219" y="3005625"/>
            <a:ext cx="5170442" cy="368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9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9E360-8FA4-2900-A5B3-2BE28F227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54D1596-E800-F502-16AE-67801A9D5CF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909CC0-F8C8-7A06-FD66-59E4E81DB5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Why it was Difficult in GTSDB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95266B-1948-084B-6D6A-0F444BFC025A}"/>
              </a:ext>
            </a:extLst>
          </p:cNvPr>
          <p:cNvSpPr txBox="1"/>
          <p:nvPr/>
        </p:nvSpPr>
        <p:spPr>
          <a:xfrm>
            <a:off x="406376" y="1019953"/>
            <a:ext cx="8130405" cy="318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external dataset is tiny, imbalanced, and closer to real driving conditions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Many GTSDB crops are small, noisy, or affected by background and camera conditions. Upscaling very small signs to 48×48 can destroy visual detail.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GTSDB is originally closer to a detection benchmark. In this project, its bounding-box crops are used for classification evaluation and domain adaptation.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4803EFB-CA64-4602-5EE4-069AA8EFA7ED}"/>
              </a:ext>
            </a:extLst>
          </p:cNvPr>
          <p:cNvGrpSpPr/>
          <p:nvPr/>
        </p:nvGrpSpPr>
        <p:grpSpPr>
          <a:xfrm>
            <a:off x="2422364" y="4163075"/>
            <a:ext cx="4299271" cy="2694925"/>
            <a:chOff x="749808" y="1371600"/>
            <a:chExt cx="4800600" cy="3017520"/>
          </a:xfrm>
        </p:grpSpPr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CA360C9F-5B0C-9305-AE4C-458F0442E6F6}"/>
                </a:ext>
              </a:extLst>
            </p:cNvPr>
            <p:cNvSpPr/>
            <p:nvPr/>
          </p:nvSpPr>
          <p:spPr>
            <a:xfrm>
              <a:off x="749808" y="1371600"/>
              <a:ext cx="4800600" cy="50292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Shape 5">
              <a:extLst>
                <a:ext uri="{FF2B5EF4-FFF2-40B4-BE49-F238E27FC236}">
                  <a16:creationId xmlns:a16="http://schemas.microsoft.com/office/drawing/2014/main" id="{3439F4F7-CE04-9A8A-416D-892172B5D51F}"/>
                </a:ext>
              </a:extLst>
            </p:cNvPr>
            <p:cNvSpPr/>
            <p:nvPr/>
          </p:nvSpPr>
          <p:spPr>
            <a:xfrm>
              <a:off x="2761488" y="1371600"/>
              <a:ext cx="0" cy="502920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5C8823B7-69EF-A5EB-87AB-ACB72C3BBFEF}"/>
                </a:ext>
              </a:extLst>
            </p:cNvPr>
            <p:cNvSpPr/>
            <p:nvPr/>
          </p:nvSpPr>
          <p:spPr>
            <a:xfrm>
              <a:off x="859536" y="1435608"/>
              <a:ext cx="182880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Total crops</a:t>
              </a:r>
              <a:endParaRPr lang="en-US" sz="12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FF78743-7C10-A26C-4C40-DF019BA7BC3D}"/>
                </a:ext>
              </a:extLst>
            </p:cNvPr>
            <p:cNvSpPr/>
            <p:nvPr/>
          </p:nvSpPr>
          <p:spPr>
            <a:xfrm>
              <a:off x="2871216" y="1435608"/>
              <a:ext cx="260604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476</a:t>
              </a:r>
              <a:endParaRPr lang="en-US" sz="1200" dirty="0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742DF738-4FFC-DD59-556D-BF43A1FEBB4B}"/>
                </a:ext>
              </a:extLst>
            </p:cNvPr>
            <p:cNvSpPr/>
            <p:nvPr/>
          </p:nvSpPr>
          <p:spPr>
            <a:xfrm>
              <a:off x="749808" y="1874520"/>
              <a:ext cx="4800600" cy="502920"/>
            </a:xfrm>
            <a:prstGeom prst="rect">
              <a:avLst/>
            </a:prstGeom>
            <a:solidFill>
              <a:srgbClr val="F1F5F9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5758AADB-7D04-0BAB-3608-D6166AF29187}"/>
                </a:ext>
              </a:extLst>
            </p:cNvPr>
            <p:cNvSpPr/>
            <p:nvPr/>
          </p:nvSpPr>
          <p:spPr>
            <a:xfrm>
              <a:off x="2761488" y="1874520"/>
              <a:ext cx="0" cy="502920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7BC7CDC6-A699-35CF-D2B6-C99057C569B2}"/>
                </a:ext>
              </a:extLst>
            </p:cNvPr>
            <p:cNvSpPr/>
            <p:nvPr/>
          </p:nvSpPr>
          <p:spPr>
            <a:xfrm>
              <a:off x="859536" y="1938528"/>
              <a:ext cx="182880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Classes</a:t>
              </a:r>
              <a:endParaRPr lang="en-US" sz="1200" dirty="0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F5F98E83-158B-A9E6-26C1-C4577ED08014}"/>
                </a:ext>
              </a:extLst>
            </p:cNvPr>
            <p:cNvSpPr/>
            <p:nvPr/>
          </p:nvSpPr>
          <p:spPr>
            <a:xfrm>
              <a:off x="2871216" y="1938528"/>
              <a:ext cx="260604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42 / NO class 32 </a:t>
              </a:r>
              <a:endParaRPr lang="en-US" sz="1200" dirty="0"/>
            </a:p>
          </p:txBody>
        </p:sp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03DB6964-40C0-975D-93D7-795A4B9FACB9}"/>
                </a:ext>
              </a:extLst>
            </p:cNvPr>
            <p:cNvSpPr/>
            <p:nvPr/>
          </p:nvSpPr>
          <p:spPr>
            <a:xfrm>
              <a:off x="749808" y="2377440"/>
              <a:ext cx="4800600" cy="50292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AE6B9D17-82FA-9E79-A7A0-F253992D6BC4}"/>
                </a:ext>
              </a:extLst>
            </p:cNvPr>
            <p:cNvSpPr/>
            <p:nvPr/>
          </p:nvSpPr>
          <p:spPr>
            <a:xfrm>
              <a:off x="2761488" y="2377440"/>
              <a:ext cx="0" cy="502920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5DE85EC8-CEE3-19AE-A909-4E3F85DB0B40}"/>
                </a:ext>
              </a:extLst>
            </p:cNvPr>
            <p:cNvSpPr/>
            <p:nvPr/>
          </p:nvSpPr>
          <p:spPr>
            <a:xfrm>
              <a:off x="859536" y="2441448"/>
              <a:ext cx="182880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Average per class</a:t>
              </a:r>
              <a:endParaRPr lang="en-US" sz="1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803F412B-7D46-1590-5890-7CA038FEC280}"/>
                </a:ext>
              </a:extLst>
            </p:cNvPr>
            <p:cNvSpPr/>
            <p:nvPr/>
          </p:nvSpPr>
          <p:spPr>
            <a:xfrm>
              <a:off x="2871216" y="2441448"/>
              <a:ext cx="260604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11</a:t>
              </a:r>
              <a:endParaRPr lang="en-US" sz="1200" dirty="0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ECF4A516-95E2-F4D0-E262-0079FC88F8B0}"/>
                </a:ext>
              </a:extLst>
            </p:cNvPr>
            <p:cNvSpPr/>
            <p:nvPr/>
          </p:nvSpPr>
          <p:spPr>
            <a:xfrm>
              <a:off x="749808" y="2880360"/>
              <a:ext cx="4800600" cy="502920"/>
            </a:xfrm>
            <a:prstGeom prst="rect">
              <a:avLst/>
            </a:prstGeom>
            <a:solidFill>
              <a:srgbClr val="F1F5F9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1B56C77D-77CE-17C0-CF20-478C600FD72C}"/>
                </a:ext>
              </a:extLst>
            </p:cNvPr>
            <p:cNvSpPr/>
            <p:nvPr/>
          </p:nvSpPr>
          <p:spPr>
            <a:xfrm>
              <a:off x="2761488" y="2880360"/>
              <a:ext cx="0" cy="502920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B9FBA159-A169-C3FC-6AEB-9235F8BC103F}"/>
                </a:ext>
              </a:extLst>
            </p:cNvPr>
            <p:cNvSpPr/>
            <p:nvPr/>
          </p:nvSpPr>
          <p:spPr>
            <a:xfrm>
              <a:off x="859536" y="2944368"/>
              <a:ext cx="182880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Minimum</a:t>
              </a:r>
              <a:endParaRPr lang="en-US" sz="12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CEF7A8D5-96D3-AD90-FA72-B91F46C721C2}"/>
                </a:ext>
              </a:extLst>
            </p:cNvPr>
            <p:cNvSpPr/>
            <p:nvPr/>
          </p:nvSpPr>
          <p:spPr>
            <a:xfrm>
              <a:off x="2871216" y="2944368"/>
              <a:ext cx="260604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1: class 31, 37, 42</a:t>
              </a:r>
              <a:endParaRPr lang="en-US" sz="120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340BB25B-4E36-1745-8395-7F92EB6A53A6}"/>
                </a:ext>
              </a:extLst>
            </p:cNvPr>
            <p:cNvSpPr/>
            <p:nvPr/>
          </p:nvSpPr>
          <p:spPr>
            <a:xfrm>
              <a:off x="749808" y="3383280"/>
              <a:ext cx="4800600" cy="50292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CCBD99C4-9C8B-741F-0ABC-C1150E45D449}"/>
                </a:ext>
              </a:extLst>
            </p:cNvPr>
            <p:cNvSpPr/>
            <p:nvPr/>
          </p:nvSpPr>
          <p:spPr>
            <a:xfrm>
              <a:off x="2761488" y="3383280"/>
              <a:ext cx="0" cy="502920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F28287CD-5209-9CD5-CB7A-2BBFF6AE2750}"/>
                </a:ext>
              </a:extLst>
            </p:cNvPr>
            <p:cNvSpPr/>
            <p:nvPr/>
          </p:nvSpPr>
          <p:spPr>
            <a:xfrm>
              <a:off x="859536" y="3447288"/>
              <a:ext cx="182880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Maximum</a:t>
              </a:r>
              <a:endParaRPr lang="en-US" sz="1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0C11B499-08F5-E0FF-AA38-5E4480AD13C8}"/>
                </a:ext>
              </a:extLst>
            </p:cNvPr>
            <p:cNvSpPr/>
            <p:nvPr/>
          </p:nvSpPr>
          <p:spPr>
            <a:xfrm>
              <a:off x="2871216" y="3447288"/>
              <a:ext cx="260604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49: class 2</a:t>
              </a:r>
              <a:endParaRPr lang="en-US" sz="12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4E0F583C-78A8-CE0A-2DFE-551A12C8263A}"/>
                </a:ext>
              </a:extLst>
            </p:cNvPr>
            <p:cNvSpPr/>
            <p:nvPr/>
          </p:nvSpPr>
          <p:spPr>
            <a:xfrm>
              <a:off x="749808" y="3886200"/>
              <a:ext cx="4800600" cy="502920"/>
            </a:xfrm>
            <a:prstGeom prst="rect">
              <a:avLst/>
            </a:prstGeom>
            <a:solidFill>
              <a:srgbClr val="F1F5F9"/>
            </a:solidFill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123892AA-0C3C-E722-52B2-576776057B52}"/>
                </a:ext>
              </a:extLst>
            </p:cNvPr>
            <p:cNvSpPr/>
            <p:nvPr/>
          </p:nvSpPr>
          <p:spPr>
            <a:xfrm>
              <a:off x="2761488" y="3886200"/>
              <a:ext cx="0" cy="502920"/>
            </a:xfrm>
            <a:prstGeom prst="line">
              <a:avLst/>
            </a:prstGeom>
            <a:noFill/>
            <a:ln w="762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5545FB32-81B7-7F3B-6ACE-5A14A85B0D55}"/>
                </a:ext>
              </a:extLst>
            </p:cNvPr>
            <p:cNvSpPr/>
            <p:nvPr/>
          </p:nvSpPr>
          <p:spPr>
            <a:xfrm>
              <a:off x="859536" y="3950208"/>
              <a:ext cx="182880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Image size</a:t>
              </a:r>
              <a:endParaRPr lang="en-US" sz="12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6566AACF-6BC4-52CC-0EE9-F9E8A69236D9}"/>
                </a:ext>
              </a:extLst>
            </p:cNvPr>
            <p:cNvSpPr/>
            <p:nvPr/>
          </p:nvSpPr>
          <p:spPr>
            <a:xfrm>
              <a:off x="2871216" y="3950208"/>
              <a:ext cx="260604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23px ~ 121px 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84361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2B6C6-14DD-D5BA-DE14-062E5D22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1A30C37-E970-6D7E-B716-61E7BC27F0E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271FA1-4417-E22F-D893-051C863A89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Improvement attempt 1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- Robust Augmentation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62CE71-D733-FCA4-0F57-387E76C249EA}"/>
              </a:ext>
            </a:extLst>
          </p:cNvPr>
          <p:cNvSpPr txBox="1"/>
          <p:nvPr/>
        </p:nvSpPr>
        <p:spPr>
          <a:xfrm>
            <a:off x="406376" y="1019953"/>
            <a:ext cx="8130405" cy="575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Stronger augmentation reduced GTSRB performance and did not improve GTSDB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Gaussian blur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Stronger color jitter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Larger affine translation/scale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More aggressive resize settings</a:t>
            </a:r>
            <a:b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</a:br>
            <a:b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</a:br>
            <a:b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</a:br>
            <a:b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</a:b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augmentation was too strong or mismatched to the actual GTSDB noise pattern. It damaged useful GTSRB features without giving the model the real-road distribution it needed.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F62E9D0-3A1B-48F0-761A-3FDE24F2D1AB}"/>
              </a:ext>
            </a:extLst>
          </p:cNvPr>
          <p:cNvGrpSpPr/>
          <p:nvPr/>
        </p:nvGrpSpPr>
        <p:grpSpPr>
          <a:xfrm>
            <a:off x="2276247" y="3612164"/>
            <a:ext cx="3984285" cy="1232453"/>
            <a:chOff x="6446520" y="1828800"/>
            <a:chExt cx="4864608" cy="1655064"/>
          </a:xfrm>
        </p:grpSpPr>
        <p:sp>
          <p:nvSpPr>
            <p:cNvPr id="3" name="Text 7">
              <a:extLst>
                <a:ext uri="{FF2B5EF4-FFF2-40B4-BE49-F238E27FC236}">
                  <a16:creationId xmlns:a16="http://schemas.microsoft.com/office/drawing/2014/main" id="{77DB1939-3F54-982B-424C-C216E2E29DEE}"/>
                </a:ext>
              </a:extLst>
            </p:cNvPr>
            <p:cNvSpPr/>
            <p:nvPr/>
          </p:nvSpPr>
          <p:spPr>
            <a:xfrm>
              <a:off x="6446520" y="1828800"/>
              <a:ext cx="2286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EfficientNet GTSRB</a:t>
              </a:r>
              <a:endParaRPr lang="en-US" sz="940" dirty="0"/>
            </a:p>
          </p:txBody>
        </p:sp>
        <p:sp>
          <p:nvSpPr>
            <p:cNvPr id="4" name="Shape 8">
              <a:extLst>
                <a:ext uri="{FF2B5EF4-FFF2-40B4-BE49-F238E27FC236}">
                  <a16:creationId xmlns:a16="http://schemas.microsoft.com/office/drawing/2014/main" id="{7A0590BE-570F-586D-E822-30D77961E3E7}"/>
                </a:ext>
              </a:extLst>
            </p:cNvPr>
            <p:cNvSpPr/>
            <p:nvPr/>
          </p:nvSpPr>
          <p:spPr>
            <a:xfrm>
              <a:off x="8778240" y="1847088"/>
              <a:ext cx="1783080" cy="265176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ABBD3F79-A048-EFC5-D0D6-95A2052B93D4}"/>
                </a:ext>
              </a:extLst>
            </p:cNvPr>
            <p:cNvSpPr/>
            <p:nvPr/>
          </p:nvSpPr>
          <p:spPr>
            <a:xfrm>
              <a:off x="8778240" y="1847088"/>
              <a:ext cx="1697492" cy="265176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2029CE66-6550-37E2-F98D-C45E8EDEB983}"/>
                </a:ext>
              </a:extLst>
            </p:cNvPr>
            <p:cNvSpPr/>
            <p:nvPr/>
          </p:nvSpPr>
          <p:spPr>
            <a:xfrm>
              <a:off x="10652760" y="1837944"/>
              <a:ext cx="65836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563EB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95.2%</a:t>
              </a:r>
              <a:endParaRPr lang="en-US" sz="10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FF44562D-25C0-7F97-4D77-331C404088C4}"/>
                </a:ext>
              </a:extLst>
            </p:cNvPr>
            <p:cNvSpPr/>
            <p:nvPr/>
          </p:nvSpPr>
          <p:spPr>
            <a:xfrm>
              <a:off x="6446520" y="2276856"/>
              <a:ext cx="2286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Robust GTSRB</a:t>
              </a:r>
              <a:endParaRPr lang="en-US" sz="940" dirty="0"/>
            </a:p>
          </p:txBody>
        </p:sp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581567C3-DB65-856F-27AB-FEA52340CB02}"/>
                </a:ext>
              </a:extLst>
            </p:cNvPr>
            <p:cNvSpPr/>
            <p:nvPr/>
          </p:nvSpPr>
          <p:spPr>
            <a:xfrm>
              <a:off x="8778240" y="2295144"/>
              <a:ext cx="1783080" cy="265176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8182396A-ED1F-FCBF-F475-85AE4CA8B620}"/>
                </a:ext>
              </a:extLst>
            </p:cNvPr>
            <p:cNvSpPr/>
            <p:nvPr/>
          </p:nvSpPr>
          <p:spPr>
            <a:xfrm>
              <a:off x="8778240" y="2295144"/>
              <a:ext cx="1551280" cy="265176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C81033ED-C2FC-9CE9-3960-57CBBF69DDE3}"/>
                </a:ext>
              </a:extLst>
            </p:cNvPr>
            <p:cNvSpPr/>
            <p:nvPr/>
          </p:nvSpPr>
          <p:spPr>
            <a:xfrm>
              <a:off x="10652760" y="2286000"/>
              <a:ext cx="65836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87.0%</a:t>
              </a:r>
              <a:endParaRPr lang="en-US" sz="1000" dirty="0"/>
            </a:p>
          </p:txBody>
        </p:sp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46754B5B-8B68-7014-DC64-B1A8BEC2CAC2}"/>
                </a:ext>
              </a:extLst>
            </p:cNvPr>
            <p:cNvSpPr/>
            <p:nvPr/>
          </p:nvSpPr>
          <p:spPr>
            <a:xfrm>
              <a:off x="6446520" y="2724912"/>
              <a:ext cx="2286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EfficientNet GTSDB</a:t>
              </a:r>
              <a:endParaRPr lang="en-US" sz="940" dirty="0"/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717688A4-428B-08DC-6129-DFC98D1C31D7}"/>
                </a:ext>
              </a:extLst>
            </p:cNvPr>
            <p:cNvSpPr/>
            <p:nvPr/>
          </p:nvSpPr>
          <p:spPr>
            <a:xfrm>
              <a:off x="8778240" y="2743200"/>
              <a:ext cx="1783080" cy="265176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F40069D3-BECC-4570-CC6A-8EF5E8912D2C}"/>
                </a:ext>
              </a:extLst>
            </p:cNvPr>
            <p:cNvSpPr/>
            <p:nvPr/>
          </p:nvSpPr>
          <p:spPr>
            <a:xfrm>
              <a:off x="8778240" y="2743200"/>
              <a:ext cx="67757" cy="265176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8">
              <a:extLst>
                <a:ext uri="{FF2B5EF4-FFF2-40B4-BE49-F238E27FC236}">
                  <a16:creationId xmlns:a16="http://schemas.microsoft.com/office/drawing/2014/main" id="{9486A5D3-0855-861E-855F-4771DA3CAB83}"/>
                </a:ext>
              </a:extLst>
            </p:cNvPr>
            <p:cNvSpPr/>
            <p:nvPr/>
          </p:nvSpPr>
          <p:spPr>
            <a:xfrm>
              <a:off x="10652760" y="2734056"/>
              <a:ext cx="65836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A580C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3.8%</a:t>
              </a:r>
              <a:endParaRPr lang="en-US" sz="1000" dirty="0"/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C5F56124-5DFD-F4B5-69F0-6899A185053F}"/>
                </a:ext>
              </a:extLst>
            </p:cNvPr>
            <p:cNvSpPr/>
            <p:nvPr/>
          </p:nvSpPr>
          <p:spPr>
            <a:xfrm>
              <a:off x="6446520" y="3172968"/>
              <a:ext cx="2286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Robust GTSDB</a:t>
              </a:r>
              <a:endParaRPr lang="en-US" sz="940" dirty="0"/>
            </a:p>
          </p:txBody>
        </p:sp>
        <p:sp>
          <p:nvSpPr>
            <p:cNvPr id="19" name="Shape 20">
              <a:extLst>
                <a:ext uri="{FF2B5EF4-FFF2-40B4-BE49-F238E27FC236}">
                  <a16:creationId xmlns:a16="http://schemas.microsoft.com/office/drawing/2014/main" id="{8A90D5C6-76F8-4ED8-4151-39E2F3C19E3B}"/>
                </a:ext>
              </a:extLst>
            </p:cNvPr>
            <p:cNvSpPr/>
            <p:nvPr/>
          </p:nvSpPr>
          <p:spPr>
            <a:xfrm>
              <a:off x="8778240" y="3191256"/>
              <a:ext cx="1783080" cy="265176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21">
              <a:extLst>
                <a:ext uri="{FF2B5EF4-FFF2-40B4-BE49-F238E27FC236}">
                  <a16:creationId xmlns:a16="http://schemas.microsoft.com/office/drawing/2014/main" id="{F8112696-1B1A-8B31-F3AC-6BF318D8459B}"/>
                </a:ext>
              </a:extLst>
            </p:cNvPr>
            <p:cNvSpPr/>
            <p:nvPr/>
          </p:nvSpPr>
          <p:spPr>
            <a:xfrm>
              <a:off x="8778240" y="3191256"/>
              <a:ext cx="37445" cy="265176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41104503-D910-0258-429B-1804B0D8E9BD}"/>
                </a:ext>
              </a:extLst>
            </p:cNvPr>
            <p:cNvSpPr/>
            <p:nvPr/>
          </p:nvSpPr>
          <p:spPr>
            <a:xfrm>
              <a:off x="10652760" y="3182112"/>
              <a:ext cx="658368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2.1%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4523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ABF4-5D43-6156-E745-698442B5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AC439F0-7B1F-1AA8-39C7-7B2B6125FA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DCF5397-E98A-6BA7-E873-9F490BFA444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Improvement attempt 2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- GTSRB + GTSDB Mix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AE8F9F-4AFE-9E16-D330-129EA35D4452}"/>
              </a:ext>
            </a:extLst>
          </p:cNvPr>
          <p:cNvSpPr txBox="1"/>
          <p:nvPr/>
        </p:nvSpPr>
        <p:spPr>
          <a:xfrm>
            <a:off x="406376" y="1019953"/>
            <a:ext cx="8130405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Direct exposure to real-road crops greatly improved GTSDB full/reference accuracy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GTSDB split details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476 crops total → 381 train mix + 95 hold-out. Classes with only one sample cannot be stratified, so they were assigned to the training-only side.</a:t>
            </a:r>
          </a:p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Why it helped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model finally saw the target-domain crop style during training: small signs, imperfect crops, real-road lighting, and background noise.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2CC548-8B82-675D-2FC6-822A07006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81" y="5033391"/>
            <a:ext cx="8364437" cy="10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29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7C08-6E8C-77BD-8B8F-52E8BD56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F344CF7-295C-12CC-DA93-E226DECEA75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4CB31C1-AEA9-9BE8-5296-94725DD47D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Signset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Germany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1B75E6-501A-EBC1-1C42-C2796104C66E}"/>
              </a:ext>
            </a:extLst>
          </p:cNvPr>
          <p:cNvSpPr txBox="1"/>
          <p:nvPr/>
        </p:nvSpPr>
        <p:spPr>
          <a:xfrm>
            <a:off x="406376" y="1019953"/>
            <a:ext cx="8130405" cy="2909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Only the labels that match GTSRB, 0–42, were used from the 211-class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Role in the project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provides synthetic rendering and imaging variations. By exposing the model to only 5% of </a:t>
            </a: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and testing on the remaining 95%, we measure whether a small amount of synthetic data can improve domain generalization.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50F1A033-86A6-8C88-1F64-486B49EEC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336" y="3991420"/>
            <a:ext cx="4554107" cy="23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74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A5BB-6224-7717-E876-93F29DB8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C881791-47AB-3F2B-48EF-AE327691238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9AF302-F597-A8F6-9AE4-4B4CA7C2133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Results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F79866-85B6-FFA3-78E1-382AFAEB363F}"/>
              </a:ext>
            </a:extLst>
          </p:cNvPr>
          <p:cNvSpPr txBox="1"/>
          <p:nvPr/>
        </p:nvSpPr>
        <p:spPr>
          <a:xfrm>
            <a:off x="406376" y="1019953"/>
            <a:ext cx="8130405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SynsetMix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maintained GTSRB accuracy while improving GTSDB and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performance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A206DACB-99AE-2967-5099-A57B4745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1262"/>
            <a:ext cx="9144000" cy="2635476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48DD285E-32AC-A718-2AD1-60A6BA32593C}"/>
              </a:ext>
            </a:extLst>
          </p:cNvPr>
          <p:cNvGrpSpPr/>
          <p:nvPr/>
        </p:nvGrpSpPr>
        <p:grpSpPr>
          <a:xfrm>
            <a:off x="1280160" y="5140121"/>
            <a:ext cx="6583680" cy="1243584"/>
            <a:chOff x="749808" y="4782312"/>
            <a:chExt cx="6583680" cy="1243584"/>
          </a:xfrm>
        </p:grpSpPr>
        <p:sp>
          <p:nvSpPr>
            <p:cNvPr id="79" name="Text 74">
              <a:extLst>
                <a:ext uri="{FF2B5EF4-FFF2-40B4-BE49-F238E27FC236}">
                  <a16:creationId xmlns:a16="http://schemas.microsoft.com/office/drawing/2014/main" id="{5B8DB752-40BF-DBEF-AE04-EC52C508F998}"/>
                </a:ext>
              </a:extLst>
            </p:cNvPr>
            <p:cNvSpPr/>
            <p:nvPr/>
          </p:nvSpPr>
          <p:spPr>
            <a:xfrm>
              <a:off x="749808" y="4782312"/>
              <a:ext cx="23774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EfficientNet GTSDB</a:t>
              </a:r>
              <a:endParaRPr lang="en-US" sz="840" dirty="0"/>
            </a:p>
          </p:txBody>
        </p:sp>
        <p:sp>
          <p:nvSpPr>
            <p:cNvPr id="80" name="Shape 75">
              <a:extLst>
                <a:ext uri="{FF2B5EF4-FFF2-40B4-BE49-F238E27FC236}">
                  <a16:creationId xmlns:a16="http://schemas.microsoft.com/office/drawing/2014/main" id="{2BA87A9A-411C-2CDF-9A68-635A6DED0C95}"/>
                </a:ext>
              </a:extLst>
            </p:cNvPr>
            <p:cNvSpPr/>
            <p:nvPr/>
          </p:nvSpPr>
          <p:spPr>
            <a:xfrm>
              <a:off x="3172968" y="4800600"/>
              <a:ext cx="4160520" cy="14630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Shape 76">
              <a:extLst>
                <a:ext uri="{FF2B5EF4-FFF2-40B4-BE49-F238E27FC236}">
                  <a16:creationId xmlns:a16="http://schemas.microsoft.com/office/drawing/2014/main" id="{63DD7B03-5FD9-8540-111C-16F409C88A03}"/>
                </a:ext>
              </a:extLst>
            </p:cNvPr>
            <p:cNvSpPr/>
            <p:nvPr/>
          </p:nvSpPr>
          <p:spPr>
            <a:xfrm>
              <a:off x="3172968" y="4800600"/>
              <a:ext cx="197625" cy="146304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Text 78">
              <a:extLst>
                <a:ext uri="{FF2B5EF4-FFF2-40B4-BE49-F238E27FC236}">
                  <a16:creationId xmlns:a16="http://schemas.microsoft.com/office/drawing/2014/main" id="{D5FC0DB3-EE9C-465E-7AAB-6851D0BA94B7}"/>
                </a:ext>
              </a:extLst>
            </p:cNvPr>
            <p:cNvSpPr/>
            <p:nvPr/>
          </p:nvSpPr>
          <p:spPr>
            <a:xfrm>
              <a:off x="749808" y="4992624"/>
              <a:ext cx="23774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Mixed GTSDB*</a:t>
              </a:r>
              <a:endParaRPr lang="en-US" sz="840" dirty="0"/>
            </a:p>
          </p:txBody>
        </p:sp>
        <p:sp>
          <p:nvSpPr>
            <p:cNvPr id="83" name="Shape 79">
              <a:extLst>
                <a:ext uri="{FF2B5EF4-FFF2-40B4-BE49-F238E27FC236}">
                  <a16:creationId xmlns:a16="http://schemas.microsoft.com/office/drawing/2014/main" id="{D8AEBC5F-338B-153B-7E05-E97CB35D8101}"/>
                </a:ext>
              </a:extLst>
            </p:cNvPr>
            <p:cNvSpPr/>
            <p:nvPr/>
          </p:nvSpPr>
          <p:spPr>
            <a:xfrm>
              <a:off x="3172968" y="5010912"/>
              <a:ext cx="4160520" cy="14630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Shape 80">
              <a:extLst>
                <a:ext uri="{FF2B5EF4-FFF2-40B4-BE49-F238E27FC236}">
                  <a16:creationId xmlns:a16="http://schemas.microsoft.com/office/drawing/2014/main" id="{AB17A731-E68D-5AE2-BC42-C6685ACEAC0E}"/>
                </a:ext>
              </a:extLst>
            </p:cNvPr>
            <p:cNvSpPr/>
            <p:nvPr/>
          </p:nvSpPr>
          <p:spPr>
            <a:xfrm>
              <a:off x="3172969" y="5010912"/>
              <a:ext cx="321346" cy="146304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82">
              <a:extLst>
                <a:ext uri="{FF2B5EF4-FFF2-40B4-BE49-F238E27FC236}">
                  <a16:creationId xmlns:a16="http://schemas.microsoft.com/office/drawing/2014/main" id="{BC88C043-1685-5967-FC3C-E57801C245C3}"/>
                </a:ext>
              </a:extLst>
            </p:cNvPr>
            <p:cNvSpPr/>
            <p:nvPr/>
          </p:nvSpPr>
          <p:spPr>
            <a:xfrm>
              <a:off x="749808" y="5202936"/>
              <a:ext cx="23774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Final GTSDB*</a:t>
              </a:r>
              <a:endParaRPr lang="en-US" sz="840" dirty="0"/>
            </a:p>
          </p:txBody>
        </p:sp>
        <p:sp>
          <p:nvSpPr>
            <p:cNvPr id="86" name="Shape 83">
              <a:extLst>
                <a:ext uri="{FF2B5EF4-FFF2-40B4-BE49-F238E27FC236}">
                  <a16:creationId xmlns:a16="http://schemas.microsoft.com/office/drawing/2014/main" id="{469A1C9B-6B87-AFC3-B9B6-6BFABD814848}"/>
                </a:ext>
              </a:extLst>
            </p:cNvPr>
            <p:cNvSpPr/>
            <p:nvPr/>
          </p:nvSpPr>
          <p:spPr>
            <a:xfrm>
              <a:off x="3172968" y="5221224"/>
              <a:ext cx="4160520" cy="14630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Shape 84">
              <a:extLst>
                <a:ext uri="{FF2B5EF4-FFF2-40B4-BE49-F238E27FC236}">
                  <a16:creationId xmlns:a16="http://schemas.microsoft.com/office/drawing/2014/main" id="{D2A8D29F-F228-B5E6-8956-C3DCD2E5496C}"/>
                </a:ext>
              </a:extLst>
            </p:cNvPr>
            <p:cNvSpPr/>
            <p:nvPr/>
          </p:nvSpPr>
          <p:spPr>
            <a:xfrm>
              <a:off x="3172968" y="5221224"/>
              <a:ext cx="3037180" cy="146304"/>
            </a:xfrm>
            <a:prstGeom prst="rect">
              <a:avLst/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8" name="Text 86">
              <a:extLst>
                <a:ext uri="{FF2B5EF4-FFF2-40B4-BE49-F238E27FC236}">
                  <a16:creationId xmlns:a16="http://schemas.microsoft.com/office/drawing/2014/main" id="{EC4A07B2-A0EF-8918-0B09-C9473662FBC8}"/>
                </a:ext>
              </a:extLst>
            </p:cNvPr>
            <p:cNvSpPr/>
            <p:nvPr/>
          </p:nvSpPr>
          <p:spPr>
            <a:xfrm>
              <a:off x="749808" y="5413248"/>
              <a:ext cx="23774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SynsetMix GTSDB*</a:t>
              </a:r>
              <a:endParaRPr lang="en-US" sz="840" dirty="0"/>
            </a:p>
          </p:txBody>
        </p:sp>
        <p:sp>
          <p:nvSpPr>
            <p:cNvPr id="89" name="Shape 87">
              <a:extLst>
                <a:ext uri="{FF2B5EF4-FFF2-40B4-BE49-F238E27FC236}">
                  <a16:creationId xmlns:a16="http://schemas.microsoft.com/office/drawing/2014/main" id="{11AAF3CD-F9BE-E83E-D1BD-0D1AC3CBD1EA}"/>
                </a:ext>
              </a:extLst>
            </p:cNvPr>
            <p:cNvSpPr/>
            <p:nvPr/>
          </p:nvSpPr>
          <p:spPr>
            <a:xfrm>
              <a:off x="3172968" y="5431536"/>
              <a:ext cx="4160520" cy="14630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Shape 88">
              <a:extLst>
                <a:ext uri="{FF2B5EF4-FFF2-40B4-BE49-F238E27FC236}">
                  <a16:creationId xmlns:a16="http://schemas.microsoft.com/office/drawing/2014/main" id="{0E4410B5-1EAB-1CCB-0C05-4B9B75586753}"/>
                </a:ext>
              </a:extLst>
            </p:cNvPr>
            <p:cNvSpPr/>
            <p:nvPr/>
          </p:nvSpPr>
          <p:spPr>
            <a:xfrm>
              <a:off x="3172968" y="5431536"/>
              <a:ext cx="3078785" cy="146304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Text 90">
              <a:extLst>
                <a:ext uri="{FF2B5EF4-FFF2-40B4-BE49-F238E27FC236}">
                  <a16:creationId xmlns:a16="http://schemas.microsoft.com/office/drawing/2014/main" id="{BBACC141-10A4-F594-4CBE-C5E68F77C2CA}"/>
                </a:ext>
              </a:extLst>
            </p:cNvPr>
            <p:cNvSpPr/>
            <p:nvPr/>
          </p:nvSpPr>
          <p:spPr>
            <a:xfrm>
              <a:off x="749808" y="5623560"/>
              <a:ext cx="23774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Final Synset</a:t>
              </a:r>
              <a:endParaRPr lang="en-US" sz="840" dirty="0"/>
            </a:p>
          </p:txBody>
        </p:sp>
        <p:sp>
          <p:nvSpPr>
            <p:cNvPr id="92" name="Shape 91">
              <a:extLst>
                <a:ext uri="{FF2B5EF4-FFF2-40B4-BE49-F238E27FC236}">
                  <a16:creationId xmlns:a16="http://schemas.microsoft.com/office/drawing/2014/main" id="{C7CE8470-8012-48C0-7C4C-0B9ADE1E71C0}"/>
                </a:ext>
              </a:extLst>
            </p:cNvPr>
            <p:cNvSpPr/>
            <p:nvPr/>
          </p:nvSpPr>
          <p:spPr>
            <a:xfrm>
              <a:off x="3172968" y="5641848"/>
              <a:ext cx="4160520" cy="14630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Shape 92">
              <a:extLst>
                <a:ext uri="{FF2B5EF4-FFF2-40B4-BE49-F238E27FC236}">
                  <a16:creationId xmlns:a16="http://schemas.microsoft.com/office/drawing/2014/main" id="{B82A4FB1-A52E-9CA1-F122-0CF2879F7EA9}"/>
                </a:ext>
              </a:extLst>
            </p:cNvPr>
            <p:cNvSpPr/>
            <p:nvPr/>
          </p:nvSpPr>
          <p:spPr>
            <a:xfrm>
              <a:off x="3172968" y="5641848"/>
              <a:ext cx="2922765" cy="14630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 94">
              <a:extLst>
                <a:ext uri="{FF2B5EF4-FFF2-40B4-BE49-F238E27FC236}">
                  <a16:creationId xmlns:a16="http://schemas.microsoft.com/office/drawing/2014/main" id="{79FECA7E-A0D4-0109-A42D-2D9F1FC5130D}"/>
                </a:ext>
              </a:extLst>
            </p:cNvPr>
            <p:cNvSpPr/>
            <p:nvPr/>
          </p:nvSpPr>
          <p:spPr>
            <a:xfrm>
              <a:off x="749808" y="5833872"/>
              <a:ext cx="23774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40" dirty="0">
                  <a:solidFill>
                    <a:srgbClr val="334155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SynsetMix Synset</a:t>
              </a:r>
              <a:endParaRPr lang="en-US" sz="840" dirty="0"/>
            </a:p>
          </p:txBody>
        </p:sp>
        <p:sp>
          <p:nvSpPr>
            <p:cNvPr id="95" name="Shape 95">
              <a:extLst>
                <a:ext uri="{FF2B5EF4-FFF2-40B4-BE49-F238E27FC236}">
                  <a16:creationId xmlns:a16="http://schemas.microsoft.com/office/drawing/2014/main" id="{AB802403-A7CC-0A78-7C6D-7E00A19ACA02}"/>
                </a:ext>
              </a:extLst>
            </p:cNvPr>
            <p:cNvSpPr/>
            <p:nvPr/>
          </p:nvSpPr>
          <p:spPr>
            <a:xfrm>
              <a:off x="3172968" y="5852160"/>
              <a:ext cx="4160520" cy="146304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F1F5F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Shape 96">
              <a:extLst>
                <a:ext uri="{FF2B5EF4-FFF2-40B4-BE49-F238E27FC236}">
                  <a16:creationId xmlns:a16="http://schemas.microsoft.com/office/drawing/2014/main" id="{31919CA8-8397-4F1B-3992-A42F4C328048}"/>
                </a:ext>
              </a:extLst>
            </p:cNvPr>
            <p:cNvSpPr/>
            <p:nvPr/>
          </p:nvSpPr>
          <p:spPr>
            <a:xfrm>
              <a:off x="3172968" y="5852160"/>
              <a:ext cx="3614452" cy="146304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9812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ED87C-1AAE-BA78-B99C-04282338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ED2181F-E4BB-424C-F0F1-D9EE3AC65F3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7DE8D1-CB86-B55D-48CD-88B35B1CE23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Why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SynsetMix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Worked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F80721-F776-B6AE-3781-E695BEEC690B}"/>
              </a:ext>
            </a:extLst>
          </p:cNvPr>
          <p:cNvSpPr txBox="1"/>
          <p:nvPr/>
        </p:nvSpPr>
        <p:spPr>
          <a:xfrm>
            <a:off x="406376" y="1019953"/>
            <a:ext cx="8130405" cy="503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Mechanism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 teaches core traffic-sign shapes, colors, and symbols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GTSDB exposes the model to small real-road crops, imperfect lighting, and background noise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5% gives a small but useful sample of synthetic rendering artifacts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Training all domains together avoids overwriting one domain with another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Fine-tuning failure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Sequential 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fine-tuning barely improved 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accuracy but reduced GTSDB performance from 58.4% to 42.6%. This indicates catastrophic forgetting: the model adapted to one domain while losing useful features for another.</a:t>
            </a:r>
          </a:p>
        </p:txBody>
      </p:sp>
    </p:spTree>
    <p:extLst>
      <p:ext uri="{BB962C8B-B14F-4D97-AF65-F5344CB8AC3E}">
        <p14:creationId xmlns:p14="http://schemas.microsoft.com/office/powerpoint/2010/main" val="3718578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D1DE-1B0B-AB63-7FF5-0559AF1B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B57F810-921C-F6F4-E3B7-A1E0123954C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4DDF25E-11C5-240E-FA36-2A2B777A09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How to Interpret each Accuracy Correctly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AEBCA4-EED9-3F14-3FAF-72D6F74ED73E}"/>
              </a:ext>
            </a:extLst>
          </p:cNvPr>
          <p:cNvSpPr txBox="1"/>
          <p:nvPr/>
        </p:nvSpPr>
        <p:spPr>
          <a:xfrm>
            <a:off x="406376" y="1019953"/>
            <a:ext cx="8130405" cy="4847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 Test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Official in-domain test set. Measures whether the model learned the main GTSRB classification task.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GTSDB Hold-out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Unseen 20% of GTSDB after splitting. More honest for real-road generalization, but only about 95 images and unstable.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GTSDB Full / reference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All 476 GTSDB crops after some GTSDB data were used for adaptation. Useful for adaptation analysis, not pure external testing.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95%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After training with only 5% </a:t>
            </a: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, the remaining 95% tests synthetic-domain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3647947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4933-3F7D-FFDB-9A10-67B1A9FEB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EF1AEB1-5EE9-FDC9-D0FE-2BA2118353F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C6D88F-DF21-46BC-201D-F1A1677B3F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8B858A-B169-6682-1CA6-38E8FAA5AD4E}"/>
              </a:ext>
            </a:extLst>
          </p:cNvPr>
          <p:cNvSpPr txBox="1"/>
          <p:nvPr/>
        </p:nvSpPr>
        <p:spPr>
          <a:xfrm>
            <a:off x="406376" y="1019953"/>
            <a:ext cx="8130405" cy="1708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Resolution Enhancement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altLang="ko-KR" sz="1600" b="1" dirty="0">
                <a:solidFill>
                  <a:srgbClr val="4472C4">
                    <a:lumMod val="50000"/>
                  </a:srgb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48X48 -&gt; 96X96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Batch Size Change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64 -&gt; 32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1086864C-493C-6306-1EDF-B6118BBF0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0732"/>
            <a:ext cx="9144000" cy="7565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A043E52-1F6F-A7AC-87B1-7C6708F0F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656" y="3152686"/>
            <a:ext cx="5315468" cy="11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17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03D2-21B3-1E43-D882-12944D1B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69997FE-8FAC-814B-5974-41D6AB87743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D6E993-7D09-1434-4F4B-8DAB304DE9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Results Summary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281DE0-B721-4D4C-74D1-E3F5DA67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2168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3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459D-5AAA-0071-245E-F8450312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BA2312-7A35-E32F-AC36-CB778DB632B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5C412D-D661-168E-D94F-F37A82297E1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Results Summary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54F0DF-7B40-B48B-201C-7FD6F02F1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44905"/>
            <a:ext cx="9144000" cy="304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79F452A-3764-6FF4-A854-0DA1686A0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7486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8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D60D7-4C81-C046-6891-E6B998F5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CC5B578-26EC-1320-B4D5-36BE967329D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E9D2DF-5EAA-9311-CB29-0D3A55B3BA3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Results Summary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3FCE87-B847-C5AB-B27E-413E95BAB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8" y="1470091"/>
            <a:ext cx="5690864" cy="497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75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C6EB-BC22-4FB6-0B64-0F15221F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452E68-7F49-85BF-6BF9-288C30E9C15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9995986-A578-DEB4-2A73-EDCEBB9C6A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Results Summary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D14DB8-81E7-CD4C-E4CD-48E1685BF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91" y="1374439"/>
            <a:ext cx="5852018" cy="50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29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673B-99E0-B538-D22B-4F5F34BD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7CED27D-A730-1B49-D5DC-F38CC41F96C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DF5F4F-B558-B377-A1A6-48F2BC4A5A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Evaluation – (2)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9D9E13-BAD5-BE0C-8895-EE5EDCA5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7694"/>
            <a:ext cx="4909112" cy="3530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ACA85-3740-FCB3-B603-1B96B537F8CC}"/>
              </a:ext>
            </a:extLst>
          </p:cNvPr>
          <p:cNvSpPr txBox="1"/>
          <p:nvPr/>
        </p:nvSpPr>
        <p:spPr>
          <a:xfrm>
            <a:off x="406376" y="1019953"/>
            <a:ext cx="8130405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Removed horizontal flip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Reason: left/right traffic signs can be mislabeled by horizontal flipping</a:t>
            </a:r>
          </a:p>
          <a:p>
            <a:pPr marL="914400" marR="0" lvl="1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Expected effect: better preservation of visual details and semantic direction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8181CD-FC81-387F-FFE8-9BD0CBA11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183" y="2877694"/>
            <a:ext cx="5282817" cy="353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17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0DFB-F424-9841-F610-F48E1F49C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9EE6A5D-A17C-B156-5A73-B3D2CC42A47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25949ED-7A85-1D36-5B06-893B6763F0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Evaluation (2) Results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970093-1ADD-C04D-C0A0-E8B1D1E92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2762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22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D07C2-23FF-62AD-DE68-CAFE5779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96F2E44-1A62-EE3A-B6C5-8797779C39B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B584AE-595F-9FAD-E8D8-17BF9077DD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Evaluation (2) Results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548D61-4F36-94F8-21FA-3D3A8141A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90" y="1347868"/>
            <a:ext cx="5852019" cy="501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16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6F8A-3F9C-76EB-A91A-B8DBC38D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7360FCA-44F2-6031-7E53-8A130AB3431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F10ABC-F8C6-B322-B21E-448B90FE6C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Evaluation &amp; 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Error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EA808B-E0D2-2DC6-F689-5DF5F8441F8E}"/>
              </a:ext>
            </a:extLst>
          </p:cNvPr>
          <p:cNvSpPr txBox="1"/>
          <p:nvPr/>
        </p:nvSpPr>
        <p:spPr>
          <a:xfrm>
            <a:off x="406376" y="1019953"/>
            <a:ext cx="8130405" cy="503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Evidence used</a:t>
            </a:r>
            <a:r>
              <a:rPr lang="ko-KR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for analysis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Training/validation loss curves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Training/validation accuracy curves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Confusion matrix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Failure-case visualization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Demo prediction examples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Main </a:t>
            </a: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Interpretaiton</a:t>
            </a:r>
            <a:endParaRPr lang="en-US" altLang="ko-KR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GTSRB-only models performed well on clean cropped signs but failed on GTSDB due to domain shift.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Small, blurry, and imperfectly cropped signs were the most difficult cases.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Mixed-domain training improved robustness by exposing the model to real-road and synthetic variations.</a:t>
            </a:r>
          </a:p>
        </p:txBody>
      </p:sp>
    </p:spTree>
    <p:extLst>
      <p:ext uri="{BB962C8B-B14F-4D97-AF65-F5344CB8AC3E}">
        <p14:creationId xmlns:p14="http://schemas.microsoft.com/office/powerpoint/2010/main" val="2209696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3E3C-62E4-1BDF-954A-B5BA5BC2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F95632-8705-9443-5662-C5E83E5587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6F3620-58E3-FAF1-421A-A3CE16B19B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Final demo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CCC397-51A7-863F-2877-395BA23402B3}"/>
              </a:ext>
            </a:extLst>
          </p:cNvPr>
          <p:cNvSpPr txBox="1"/>
          <p:nvPr/>
        </p:nvSpPr>
        <p:spPr>
          <a:xfrm>
            <a:off x="406376" y="1019953"/>
            <a:ext cx="8130405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  <a:hlinkClick r:id="rId3"/>
              </a:rPr>
              <a:t>https://8b0ad89f26c07eb609.gradio.live/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G마켓 산스 Bold" panose="020000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C86DEC-23F7-D369-6D58-FA529DBC1D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783" y="2480341"/>
            <a:ext cx="4771828" cy="23983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B7C2C7-46DD-748D-98EB-2C2DD3AC70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154" y="2480341"/>
            <a:ext cx="4771828" cy="239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69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86B4-8FA5-C671-6E29-2F6D6FDC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AE3D569-2733-30B5-8BFE-5F49737FE3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0" y="957486"/>
            <a:ext cx="8536781" cy="0"/>
          </a:xfrm>
          <a:prstGeom prst="line">
            <a:avLst/>
          </a:prstGeom>
          <a:ln w="57150">
            <a:solidFill>
              <a:srgbClr val="1B36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20B9B4-BDDE-40BD-2E81-4F0DBF3DA2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361" y="233103"/>
            <a:ext cx="343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Conclusions &amp; </a:t>
            </a:r>
          </a:p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F45BE-73DB-F576-61D3-58851D2FFBD5}"/>
              </a:ext>
            </a:extLst>
          </p:cNvPr>
          <p:cNvSpPr txBox="1"/>
          <p:nvPr/>
        </p:nvSpPr>
        <p:spPr>
          <a:xfrm>
            <a:off x="406376" y="1019953"/>
            <a:ext cx="8130405" cy="5771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The final model improved cross-domain robustness, but the evaluation should remain careful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 is a suitable dataset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It satisfies the assignment requirements and provides a meaningful 43-class traffic-sign classification task.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High GTSRB accuracy is not enough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GTSRB-only models dropped to nearly random performance on GTSDB due to domain shift.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Mixed training was most effective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Real-road and synthetic exposure improved robustness more reliably than stronger augmentation.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SynsetMix</a:t>
            </a:r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is the best final result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GTSRB 94.8%, GTSDB 59.2%*, and </a:t>
            </a: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69.5% with only 5% </a:t>
            </a:r>
            <a:r>
              <a:rPr lang="en-US" altLang="ko-K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Synset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G마켓 산스 Bold" panose="02000000000000000000" pitchFamily="50" charset="-127"/>
                <a:cs typeface="Arial" panose="020B0604020202020204" pitchFamily="34" charset="0"/>
              </a:rPr>
              <a:t> used for training.</a:t>
            </a:r>
          </a:p>
        </p:txBody>
      </p:sp>
    </p:spTree>
    <p:extLst>
      <p:ext uri="{BB962C8B-B14F-4D97-AF65-F5344CB8AC3E}">
        <p14:creationId xmlns:p14="http://schemas.microsoft.com/office/powerpoint/2010/main" val="218473641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60548</TotalTime>
  <Words>1426</Words>
  <Application>Microsoft Office PowerPoint</Application>
  <PresentationFormat>화면 슬라이드 쇼(4:3)</PresentationFormat>
  <Paragraphs>245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KoPub돋움체 Bold</vt:lpstr>
      <vt:lpstr>Noto Sans CJK KR</vt:lpstr>
      <vt:lpstr>맑은 고딕</vt:lpstr>
      <vt:lpstr>Arial</vt:lpstr>
      <vt:lpstr>Calibri</vt:lpstr>
      <vt:lpstr>Calibri Light</vt:lpstr>
      <vt:lpstr>Wingdings</vt:lpstr>
      <vt:lpstr>디자인 사용자 지정</vt:lpstr>
      <vt:lpstr>1_디자인 사용자 지정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레드포인트 ~!</dc:creator>
  <cp:lastModifiedBy>박은규학부/국어교육과</cp:lastModifiedBy>
  <cp:revision>5375</cp:revision>
  <cp:lastPrinted>2024-11-10T20:10:57Z</cp:lastPrinted>
  <dcterms:created xsi:type="dcterms:W3CDTF">2020-03-25T08:00:14Z</dcterms:created>
  <dcterms:modified xsi:type="dcterms:W3CDTF">2026-04-27T01:14:23Z</dcterms:modified>
</cp:coreProperties>
</file>